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8229600"/>
          </a:xfrm>
          <a:custGeom>
            <a:avLst/>
            <a:gdLst/>
            <a:ahLst/>
            <a:cxnLst/>
            <a:rect l="l" t="t" r="r" b="b"/>
            <a:pathLst>
              <a:path w="9144000" h="8229600">
                <a:moveTo>
                  <a:pt x="0" y="8229600"/>
                </a:moveTo>
                <a:lnTo>
                  <a:pt x="9144000" y="8229600"/>
                </a:lnTo>
                <a:lnTo>
                  <a:pt x="9144000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solidFill>
            <a:srgbClr val="08141A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1098" y="2569629"/>
            <a:ext cx="5467350" cy="15328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rgbClr val="F5EFE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51098" y="4461091"/>
            <a:ext cx="6945630" cy="1206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F5EFE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F5EFE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F5EFE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8141A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1098" y="848704"/>
            <a:ext cx="7826375" cy="764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rgbClr val="F5EFE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6889" y="2106218"/>
            <a:ext cx="6186805" cy="3893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6050"/>
              </a:lnSpc>
              <a:tabLst>
                <a:tab pos="2614295" algn="l"/>
                <a:tab pos="2851785" algn="l"/>
              </a:tabLst>
            </a:pPr>
            <a:r>
              <a:rPr dirty="0" spc="-10"/>
              <a:t>Customer</a:t>
            </a:r>
            <a:r>
              <a:rPr dirty="0"/>
              <a:t>	</a:t>
            </a:r>
            <a:r>
              <a:rPr dirty="0" spc="-10"/>
              <a:t>Shopping Behavior</a:t>
            </a:r>
            <a:r>
              <a:rPr dirty="0"/>
              <a:t>	</a:t>
            </a:r>
            <a:r>
              <a:rPr dirty="0" spc="-10"/>
              <a:t>Analysis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6000"/>
              </a:lnSpc>
              <a:spcBef>
                <a:spcPts val="100"/>
              </a:spcBef>
            </a:pPr>
            <a:r>
              <a:rPr dirty="0" sz="1900" spc="-10">
                <a:solidFill>
                  <a:srgbClr val="E1E6E9"/>
                </a:solidFill>
              </a:rPr>
              <a:t>Uncovering</a:t>
            </a:r>
            <a:r>
              <a:rPr dirty="0" sz="1900" spc="-85">
                <a:solidFill>
                  <a:srgbClr val="E1E6E9"/>
                </a:solidFill>
              </a:rPr>
              <a:t> </a:t>
            </a:r>
            <a:r>
              <a:rPr dirty="0" sz="1900">
                <a:solidFill>
                  <a:srgbClr val="E1E6E9"/>
                </a:solidFill>
              </a:rPr>
              <a:t>spending</a:t>
            </a:r>
            <a:r>
              <a:rPr dirty="0" sz="1900" spc="-85">
                <a:solidFill>
                  <a:srgbClr val="E1E6E9"/>
                </a:solidFill>
              </a:rPr>
              <a:t> </a:t>
            </a:r>
            <a:r>
              <a:rPr dirty="0" sz="1900">
                <a:solidFill>
                  <a:srgbClr val="E1E6E9"/>
                </a:solidFill>
              </a:rPr>
              <a:t>patterns,</a:t>
            </a:r>
            <a:r>
              <a:rPr dirty="0" sz="1900" spc="-80">
                <a:solidFill>
                  <a:srgbClr val="E1E6E9"/>
                </a:solidFill>
              </a:rPr>
              <a:t> </a:t>
            </a:r>
            <a:r>
              <a:rPr dirty="0" sz="1900">
                <a:solidFill>
                  <a:srgbClr val="E1E6E9"/>
                </a:solidFill>
              </a:rPr>
              <a:t>customer</a:t>
            </a:r>
            <a:r>
              <a:rPr dirty="0" sz="1900" spc="-85">
                <a:solidFill>
                  <a:srgbClr val="E1E6E9"/>
                </a:solidFill>
              </a:rPr>
              <a:t> </a:t>
            </a:r>
            <a:r>
              <a:rPr dirty="0" sz="1900">
                <a:solidFill>
                  <a:srgbClr val="E1E6E9"/>
                </a:solidFill>
              </a:rPr>
              <a:t>segments,</a:t>
            </a:r>
            <a:r>
              <a:rPr dirty="0" sz="1900" spc="-80">
                <a:solidFill>
                  <a:srgbClr val="E1E6E9"/>
                </a:solidFill>
              </a:rPr>
              <a:t> </a:t>
            </a:r>
            <a:r>
              <a:rPr dirty="0" sz="1900">
                <a:solidFill>
                  <a:srgbClr val="E1E6E9"/>
                </a:solidFill>
              </a:rPr>
              <a:t>and</a:t>
            </a:r>
            <a:r>
              <a:rPr dirty="0" sz="1900" spc="-85">
                <a:solidFill>
                  <a:srgbClr val="E1E6E9"/>
                </a:solidFill>
              </a:rPr>
              <a:t> </a:t>
            </a:r>
            <a:r>
              <a:rPr dirty="0" sz="1900" spc="-10">
                <a:solidFill>
                  <a:srgbClr val="E1E6E9"/>
                </a:solidFill>
              </a:rPr>
              <a:t>product </a:t>
            </a:r>
            <a:r>
              <a:rPr dirty="0" sz="1900">
                <a:solidFill>
                  <a:srgbClr val="E1E6E9"/>
                </a:solidFill>
              </a:rPr>
              <a:t>preferences</a:t>
            </a:r>
            <a:r>
              <a:rPr dirty="0" sz="1900" spc="-60">
                <a:solidFill>
                  <a:srgbClr val="E1E6E9"/>
                </a:solidFill>
              </a:rPr>
              <a:t> </a:t>
            </a:r>
            <a:r>
              <a:rPr dirty="0" sz="1900">
                <a:solidFill>
                  <a:srgbClr val="E1E6E9"/>
                </a:solidFill>
              </a:rPr>
              <a:t>from</a:t>
            </a:r>
            <a:r>
              <a:rPr dirty="0" sz="1900" spc="-55">
                <a:solidFill>
                  <a:srgbClr val="E1E6E9"/>
                </a:solidFill>
              </a:rPr>
              <a:t> </a:t>
            </a:r>
            <a:r>
              <a:rPr dirty="0" sz="1900" b="1">
                <a:solidFill>
                  <a:srgbClr val="E1E6E9"/>
                </a:solidFill>
                <a:latin typeface="Arial"/>
                <a:cs typeface="Arial"/>
              </a:rPr>
              <a:t>3,900</a:t>
            </a:r>
            <a:r>
              <a:rPr dirty="0" sz="1900" spc="-55" b="1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E1E6E9"/>
                </a:solidFill>
                <a:latin typeface="Arial"/>
                <a:cs typeface="Arial"/>
              </a:rPr>
              <a:t>transactions</a:t>
            </a:r>
            <a:r>
              <a:rPr dirty="0" sz="1900" spc="-45" b="1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</a:rPr>
              <a:t>to</a:t>
            </a:r>
            <a:r>
              <a:rPr dirty="0" sz="1900" spc="-55">
                <a:solidFill>
                  <a:srgbClr val="E1E6E9"/>
                </a:solidFill>
              </a:rPr>
              <a:t> </a:t>
            </a:r>
            <a:r>
              <a:rPr dirty="0" sz="1900">
                <a:solidFill>
                  <a:srgbClr val="E1E6E9"/>
                </a:solidFill>
              </a:rPr>
              <a:t>guide</a:t>
            </a:r>
            <a:r>
              <a:rPr dirty="0" sz="1900" spc="-55">
                <a:solidFill>
                  <a:srgbClr val="E1E6E9"/>
                </a:solidFill>
              </a:rPr>
              <a:t> </a:t>
            </a:r>
            <a:r>
              <a:rPr dirty="0" sz="1900">
                <a:solidFill>
                  <a:srgbClr val="E1E6E9"/>
                </a:solidFill>
              </a:rPr>
              <a:t>strategic</a:t>
            </a:r>
            <a:r>
              <a:rPr dirty="0" sz="1900" spc="-55">
                <a:solidFill>
                  <a:srgbClr val="E1E6E9"/>
                </a:solidFill>
              </a:rPr>
              <a:t> </a:t>
            </a:r>
            <a:r>
              <a:rPr dirty="0" sz="1900" spc="-10">
                <a:solidFill>
                  <a:srgbClr val="E1E6E9"/>
                </a:solidFill>
              </a:rPr>
              <a:t>business decisions.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0611" y="646988"/>
            <a:ext cx="4568825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25955" algn="l"/>
                <a:tab pos="2496820" algn="l"/>
                <a:tab pos="2926080" algn="l"/>
              </a:tabLst>
            </a:pPr>
            <a:r>
              <a:rPr dirty="0" sz="4050" spc="-10"/>
              <a:t>Dataset</a:t>
            </a:r>
            <a:r>
              <a:rPr dirty="0" sz="4050"/>
              <a:t>	</a:t>
            </a:r>
            <a:r>
              <a:rPr dirty="0" sz="4050" spc="-25"/>
              <a:t>at</a:t>
            </a:r>
            <a:r>
              <a:rPr dirty="0" sz="4050"/>
              <a:t>	</a:t>
            </a:r>
            <a:r>
              <a:rPr dirty="0" sz="4050" spc="-50"/>
              <a:t>a</a:t>
            </a:r>
            <a:r>
              <a:rPr dirty="0" sz="4050"/>
              <a:t>	</a:t>
            </a:r>
            <a:r>
              <a:rPr dirty="0" sz="4050" spc="-10"/>
              <a:t>Glance</a:t>
            </a:r>
            <a:endParaRPr sz="4050"/>
          </a:p>
        </p:txBody>
      </p:sp>
      <p:sp>
        <p:nvSpPr>
          <p:cNvPr id="3" name="object 3" descr=""/>
          <p:cNvSpPr txBox="1"/>
          <p:nvPr/>
        </p:nvSpPr>
        <p:spPr>
          <a:xfrm>
            <a:off x="3123769" y="1607197"/>
            <a:ext cx="1741170" cy="1393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10">
                <a:solidFill>
                  <a:srgbClr val="E1E6E9"/>
                </a:solidFill>
                <a:latin typeface="Arial"/>
                <a:cs typeface="Arial"/>
              </a:rPr>
              <a:t>3,900</a:t>
            </a:r>
            <a:endParaRPr sz="5400">
              <a:latin typeface="Arial"/>
              <a:cs typeface="Arial"/>
            </a:endParaRPr>
          </a:p>
          <a:p>
            <a:pPr marL="143510">
              <a:lnSpc>
                <a:spcPct val="100000"/>
              </a:lnSpc>
              <a:spcBef>
                <a:spcPts val="1889"/>
              </a:spcBef>
            </a:pPr>
            <a:r>
              <a:rPr dirty="0" sz="2000" spc="-10">
                <a:solidFill>
                  <a:srgbClr val="E1E6E9"/>
                </a:solidFill>
                <a:latin typeface="Arial"/>
                <a:cs typeface="Arial"/>
              </a:rPr>
              <a:t>Transactions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122401" y="1607197"/>
            <a:ext cx="1028065" cy="1393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2080">
              <a:lnSpc>
                <a:spcPct val="100000"/>
              </a:lnSpc>
              <a:spcBef>
                <a:spcPts val="100"/>
              </a:spcBef>
            </a:pPr>
            <a:r>
              <a:rPr dirty="0" sz="5400" spc="-25">
                <a:solidFill>
                  <a:srgbClr val="E1E6E9"/>
                </a:solidFill>
                <a:latin typeface="Arial"/>
                <a:cs typeface="Arial"/>
              </a:rPr>
              <a:t>18</a:t>
            </a:r>
            <a:endParaRPr sz="5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dirty="0" sz="2000" spc="-10">
                <a:solidFill>
                  <a:srgbClr val="E1E6E9"/>
                </a:solidFill>
                <a:latin typeface="Arial"/>
                <a:cs typeface="Arial"/>
              </a:rPr>
              <a:t>Columns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33066" y="3310978"/>
            <a:ext cx="2121535" cy="1393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5400" spc="-10">
                <a:solidFill>
                  <a:srgbClr val="E1E6E9"/>
                </a:solidFill>
                <a:latin typeface="Arial"/>
                <a:cs typeface="Arial"/>
              </a:rPr>
              <a:t>$59.76</a:t>
            </a:r>
            <a:endParaRPr sz="54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  <a:spcBef>
                <a:spcPts val="1889"/>
              </a:spcBef>
            </a:pPr>
            <a:r>
              <a:rPr dirty="0" sz="2000">
                <a:solidFill>
                  <a:srgbClr val="E1E6E9"/>
                </a:solidFill>
                <a:latin typeface="Arial"/>
                <a:cs typeface="Arial"/>
              </a:rPr>
              <a:t>Avg.</a:t>
            </a:r>
            <a:r>
              <a:rPr dirty="0" sz="20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E1E6E9"/>
                </a:solidFill>
                <a:latin typeface="Arial"/>
                <a:cs typeface="Arial"/>
              </a:rPr>
              <a:t>Purchase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956139" y="3310978"/>
            <a:ext cx="1359535" cy="1393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20">
                <a:solidFill>
                  <a:srgbClr val="E1E6E9"/>
                </a:solidFill>
                <a:latin typeface="Arial"/>
                <a:cs typeface="Arial"/>
              </a:rPr>
              <a:t>3.75</a:t>
            </a:r>
            <a:endParaRPr sz="54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1889"/>
              </a:spcBef>
            </a:pPr>
            <a:r>
              <a:rPr dirty="0" sz="2000">
                <a:solidFill>
                  <a:srgbClr val="E1E6E9"/>
                </a:solidFill>
                <a:latin typeface="Arial"/>
                <a:cs typeface="Arial"/>
              </a:rPr>
              <a:t>Avg.</a:t>
            </a:r>
            <a:r>
              <a:rPr dirty="0" sz="20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E1E6E9"/>
                </a:solidFill>
                <a:latin typeface="Arial"/>
                <a:cs typeface="Arial"/>
              </a:rPr>
              <a:t>Rating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70611" y="4962905"/>
            <a:ext cx="5748020" cy="1511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5EFEF"/>
                </a:solidFill>
                <a:latin typeface="Arial"/>
                <a:cs typeface="Arial"/>
              </a:rPr>
              <a:t>Key</a:t>
            </a:r>
            <a:r>
              <a:rPr dirty="0" sz="2000" spc="-40">
                <a:solidFill>
                  <a:srgbClr val="F5EFE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5EFEF"/>
                </a:solidFill>
                <a:latin typeface="Arial"/>
                <a:cs typeface="Arial"/>
              </a:rPr>
              <a:t>Features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2095"/>
              </a:spcBef>
            </a:pPr>
            <a:r>
              <a:rPr dirty="0" sz="1600" b="1">
                <a:solidFill>
                  <a:srgbClr val="E1E6E9"/>
                </a:solidFill>
                <a:latin typeface="Arial"/>
                <a:cs typeface="Arial"/>
              </a:rPr>
              <a:t>Demographics:</a:t>
            </a:r>
            <a:r>
              <a:rPr dirty="0" sz="1600" spc="-45" b="1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1E6E9"/>
                </a:solidFill>
                <a:latin typeface="Arial"/>
                <a:cs typeface="Arial"/>
              </a:rPr>
              <a:t>Age,</a:t>
            </a:r>
            <a:r>
              <a:rPr dirty="0" sz="16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1E6E9"/>
                </a:solidFill>
                <a:latin typeface="Arial"/>
                <a:cs typeface="Arial"/>
              </a:rPr>
              <a:t>Gender,</a:t>
            </a:r>
            <a:r>
              <a:rPr dirty="0" sz="16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1E6E9"/>
                </a:solidFill>
                <a:latin typeface="Arial"/>
                <a:cs typeface="Arial"/>
              </a:rPr>
              <a:t>Location,</a:t>
            </a:r>
            <a:r>
              <a:rPr dirty="0" sz="16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1E6E9"/>
                </a:solidFill>
                <a:latin typeface="Arial"/>
                <a:cs typeface="Arial"/>
              </a:rPr>
              <a:t>Subscription</a:t>
            </a:r>
            <a:r>
              <a:rPr dirty="0" sz="16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E1E6E9"/>
                </a:solidFill>
                <a:latin typeface="Arial"/>
                <a:cs typeface="Arial"/>
              </a:rPr>
              <a:t>Status </a:t>
            </a:r>
            <a:r>
              <a:rPr dirty="0" sz="1600" b="1">
                <a:solidFill>
                  <a:srgbClr val="E1E6E9"/>
                </a:solidFill>
                <a:latin typeface="Arial"/>
                <a:cs typeface="Arial"/>
              </a:rPr>
              <a:t>Purchase</a:t>
            </a:r>
            <a:r>
              <a:rPr dirty="0" sz="1600" spc="-45" b="1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E1E6E9"/>
                </a:solidFill>
                <a:latin typeface="Arial"/>
                <a:cs typeface="Arial"/>
              </a:rPr>
              <a:t>Details:</a:t>
            </a:r>
            <a:r>
              <a:rPr dirty="0" sz="1600" spc="-40" b="1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1E6E9"/>
                </a:solidFill>
                <a:latin typeface="Arial"/>
                <a:cs typeface="Arial"/>
              </a:rPr>
              <a:t>Category,</a:t>
            </a:r>
            <a:r>
              <a:rPr dirty="0" sz="16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1E6E9"/>
                </a:solidFill>
                <a:latin typeface="Arial"/>
                <a:cs typeface="Arial"/>
              </a:rPr>
              <a:t>Amount,</a:t>
            </a:r>
            <a:r>
              <a:rPr dirty="0" sz="16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1E6E9"/>
                </a:solidFill>
                <a:latin typeface="Arial"/>
                <a:cs typeface="Arial"/>
              </a:rPr>
              <a:t>Season,</a:t>
            </a:r>
            <a:r>
              <a:rPr dirty="0" sz="16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1E6E9"/>
                </a:solidFill>
                <a:latin typeface="Arial"/>
                <a:cs typeface="Arial"/>
              </a:rPr>
              <a:t>Size,</a:t>
            </a:r>
            <a:r>
              <a:rPr dirty="0" sz="16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E1E6E9"/>
                </a:solidFill>
                <a:latin typeface="Arial"/>
                <a:cs typeface="Arial"/>
              </a:rPr>
              <a:t>Color </a:t>
            </a:r>
            <a:r>
              <a:rPr dirty="0" sz="1600" b="1">
                <a:solidFill>
                  <a:srgbClr val="E1E6E9"/>
                </a:solidFill>
                <a:latin typeface="Arial"/>
                <a:cs typeface="Arial"/>
              </a:rPr>
              <a:t>Behavior:</a:t>
            </a:r>
            <a:r>
              <a:rPr dirty="0" sz="1600" spc="-40" b="1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1E6E9"/>
                </a:solidFill>
                <a:latin typeface="Arial"/>
                <a:cs typeface="Arial"/>
              </a:rPr>
              <a:t>Discounts,</a:t>
            </a:r>
            <a:r>
              <a:rPr dirty="0" sz="16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1E6E9"/>
                </a:solidFill>
                <a:latin typeface="Arial"/>
                <a:cs typeface="Arial"/>
              </a:rPr>
              <a:t>Promo</a:t>
            </a:r>
            <a:r>
              <a:rPr dirty="0" sz="16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1E6E9"/>
                </a:solidFill>
                <a:latin typeface="Arial"/>
                <a:cs typeface="Arial"/>
              </a:rPr>
              <a:t>Codes,</a:t>
            </a:r>
            <a:r>
              <a:rPr dirty="0" sz="16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1E6E9"/>
                </a:solidFill>
                <a:latin typeface="Arial"/>
                <a:cs typeface="Arial"/>
              </a:rPr>
              <a:t>Frequency,</a:t>
            </a:r>
            <a:r>
              <a:rPr dirty="0" sz="16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1E6E9"/>
                </a:solidFill>
                <a:latin typeface="Arial"/>
                <a:cs typeface="Arial"/>
              </a:rPr>
              <a:t>Shipping</a:t>
            </a:r>
            <a:r>
              <a:rPr dirty="0" sz="16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E1E6E9"/>
                </a:solidFill>
                <a:latin typeface="Arial"/>
                <a:cs typeface="Arial"/>
              </a:rPr>
              <a:t>Type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83311" y="6792518"/>
            <a:ext cx="13063855" cy="796925"/>
            <a:chOff x="783311" y="6792518"/>
            <a:chExt cx="13063855" cy="796925"/>
          </a:xfrm>
        </p:grpSpPr>
        <p:sp>
          <p:nvSpPr>
            <p:cNvPr id="9" name="object 9" descr=""/>
            <p:cNvSpPr/>
            <p:nvPr/>
          </p:nvSpPr>
          <p:spPr>
            <a:xfrm>
              <a:off x="783311" y="6792518"/>
              <a:ext cx="13063855" cy="796925"/>
            </a:xfrm>
            <a:custGeom>
              <a:avLst/>
              <a:gdLst/>
              <a:ahLst/>
              <a:cxnLst/>
              <a:rect l="l" t="t" r="r" b="b"/>
              <a:pathLst>
                <a:path w="13063855" h="796925">
                  <a:moveTo>
                    <a:pt x="12976352" y="0"/>
                  </a:moveTo>
                  <a:lnTo>
                    <a:pt x="87473" y="0"/>
                  </a:lnTo>
                  <a:lnTo>
                    <a:pt x="53561" y="6919"/>
                  </a:lnTo>
                  <a:lnTo>
                    <a:pt x="25741" y="25741"/>
                  </a:lnTo>
                  <a:lnTo>
                    <a:pt x="6919" y="53562"/>
                  </a:lnTo>
                  <a:lnTo>
                    <a:pt x="0" y="87477"/>
                  </a:lnTo>
                  <a:lnTo>
                    <a:pt x="0" y="709409"/>
                  </a:lnTo>
                  <a:lnTo>
                    <a:pt x="6919" y="743324"/>
                  </a:lnTo>
                  <a:lnTo>
                    <a:pt x="25741" y="771145"/>
                  </a:lnTo>
                  <a:lnTo>
                    <a:pt x="53561" y="789967"/>
                  </a:lnTo>
                  <a:lnTo>
                    <a:pt x="87473" y="796886"/>
                  </a:lnTo>
                  <a:lnTo>
                    <a:pt x="12976352" y="796886"/>
                  </a:lnTo>
                  <a:lnTo>
                    <a:pt x="13010203" y="789967"/>
                  </a:lnTo>
                  <a:lnTo>
                    <a:pt x="13037994" y="771145"/>
                  </a:lnTo>
                  <a:lnTo>
                    <a:pt x="13056808" y="743324"/>
                  </a:lnTo>
                  <a:lnTo>
                    <a:pt x="13063728" y="709409"/>
                  </a:lnTo>
                  <a:lnTo>
                    <a:pt x="13063728" y="87477"/>
                  </a:lnTo>
                  <a:lnTo>
                    <a:pt x="13056808" y="53562"/>
                  </a:lnTo>
                  <a:lnTo>
                    <a:pt x="13037994" y="25741"/>
                  </a:lnTo>
                  <a:lnTo>
                    <a:pt x="13010203" y="6919"/>
                  </a:lnTo>
                  <a:lnTo>
                    <a:pt x="12976352" y="0"/>
                  </a:lnTo>
                  <a:close/>
                </a:path>
              </a:pathLst>
            </a:custGeom>
            <a:solidFill>
              <a:srgbClr val="001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1552" y="7099096"/>
              <a:ext cx="260271" cy="208241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1447368" y="7064133"/>
            <a:ext cx="74987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37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missing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values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Review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Rating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imputed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median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per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category.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8141A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9173" y="651033"/>
            <a:ext cx="5969000" cy="619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95070" algn="l"/>
                <a:tab pos="3891279" algn="l"/>
                <a:tab pos="4413885" algn="l"/>
              </a:tabLst>
            </a:pPr>
            <a:r>
              <a:rPr dirty="0" sz="3900" spc="-20"/>
              <a:t>Data</a:t>
            </a:r>
            <a:r>
              <a:rPr dirty="0" sz="3900"/>
              <a:t>	</a:t>
            </a:r>
            <a:r>
              <a:rPr dirty="0" sz="3900" spc="-10"/>
              <a:t>Preparation</a:t>
            </a:r>
            <a:r>
              <a:rPr dirty="0" sz="3900"/>
              <a:t>	</a:t>
            </a:r>
            <a:r>
              <a:rPr dirty="0" sz="3900" spc="-25"/>
              <a:t>in</a:t>
            </a:r>
            <a:r>
              <a:rPr dirty="0" sz="3900"/>
              <a:t>	</a:t>
            </a:r>
            <a:r>
              <a:rPr dirty="0" sz="3900" spc="-10"/>
              <a:t>Python</a:t>
            </a:r>
            <a:endParaRPr sz="3900"/>
          </a:p>
        </p:txBody>
      </p:sp>
      <p:sp>
        <p:nvSpPr>
          <p:cNvPr id="5" name="object 5" descr=""/>
          <p:cNvSpPr/>
          <p:nvPr/>
        </p:nvSpPr>
        <p:spPr>
          <a:xfrm>
            <a:off x="701873" y="1835111"/>
            <a:ext cx="7740650" cy="22860"/>
          </a:xfrm>
          <a:custGeom>
            <a:avLst/>
            <a:gdLst/>
            <a:ahLst/>
            <a:cxnLst/>
            <a:rect l="l" t="t" r="r" b="b"/>
            <a:pathLst>
              <a:path w="7740650" h="22860">
                <a:moveTo>
                  <a:pt x="7740256" y="0"/>
                </a:moveTo>
                <a:lnTo>
                  <a:pt x="0" y="0"/>
                </a:lnTo>
                <a:lnTo>
                  <a:pt x="0" y="22859"/>
                </a:lnTo>
                <a:lnTo>
                  <a:pt x="7740256" y="22859"/>
                </a:lnTo>
                <a:lnTo>
                  <a:pt x="7740256" y="0"/>
                </a:lnTo>
                <a:close/>
              </a:path>
            </a:pathLst>
          </a:custGeom>
          <a:solidFill>
            <a:srgbClr val="5F9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89173" y="1549882"/>
            <a:ext cx="1718945" cy="749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25">
                <a:solidFill>
                  <a:srgbClr val="E1E6E9"/>
                </a:solidFill>
                <a:latin typeface="Arial"/>
                <a:cs typeface="Arial"/>
              </a:rPr>
              <a:t>01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1950">
                <a:solidFill>
                  <a:srgbClr val="E1E6E9"/>
                </a:solidFill>
                <a:latin typeface="Arial"/>
                <a:cs typeface="Arial"/>
              </a:rPr>
              <a:t>Load</a:t>
            </a:r>
            <a:r>
              <a:rPr dirty="0" sz="195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E1E6E9"/>
                </a:solidFill>
                <a:latin typeface="Arial"/>
                <a:cs typeface="Arial"/>
              </a:rPr>
              <a:t>&amp;</a:t>
            </a:r>
            <a:r>
              <a:rPr dirty="0" sz="195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E1E6E9"/>
                </a:solidFill>
                <a:latin typeface="Arial"/>
                <a:cs typeface="Arial"/>
              </a:rPr>
              <a:t>Explore</a:t>
            </a:r>
            <a:endParaRPr sz="195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2638521" y="2392210"/>
            <a:ext cx="675005" cy="285750"/>
          </a:xfrm>
          <a:custGeom>
            <a:avLst/>
            <a:gdLst/>
            <a:ahLst/>
            <a:cxnLst/>
            <a:rect l="l" t="t" r="r" b="b"/>
            <a:pathLst>
              <a:path w="675004" h="285750">
                <a:moveTo>
                  <a:pt x="674941" y="0"/>
                </a:moveTo>
                <a:lnTo>
                  <a:pt x="0" y="0"/>
                </a:lnTo>
                <a:lnTo>
                  <a:pt x="0" y="285750"/>
                </a:lnTo>
                <a:lnTo>
                  <a:pt x="674941" y="285750"/>
                </a:lnTo>
                <a:lnTo>
                  <a:pt x="674941" y="0"/>
                </a:lnTo>
                <a:close/>
              </a:path>
            </a:pathLst>
          </a:custGeom>
          <a:solidFill>
            <a:srgbClr val="1521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89173" y="2417597"/>
            <a:ext cx="3173730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Imported</a:t>
            </a:r>
            <a:r>
              <a:rPr dirty="0" sz="155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dataset</a:t>
            </a:r>
            <a:r>
              <a:rPr dirty="0" sz="155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with</a:t>
            </a:r>
            <a:r>
              <a:rPr dirty="0" sz="15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E1E6E9"/>
                </a:solidFill>
                <a:latin typeface="Lucida Sans"/>
                <a:cs typeface="Lucida Sans"/>
              </a:rPr>
              <a:t>pandas</a:t>
            </a:r>
            <a:r>
              <a:rPr dirty="0" sz="1550" spc="-10">
                <a:solidFill>
                  <a:srgbClr val="E1E6E9"/>
                </a:solidFill>
                <a:latin typeface="Arial"/>
                <a:cs typeface="Arial"/>
              </a:rPr>
              <a:t>;</a:t>
            </a:r>
            <a:r>
              <a:rPr dirty="0" sz="155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E1E6E9"/>
                </a:solidFill>
                <a:latin typeface="Arial"/>
                <a:cs typeface="Arial"/>
              </a:rPr>
              <a:t>used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04381" y="2392210"/>
            <a:ext cx="712470" cy="285750"/>
          </a:xfrm>
          <a:prstGeom prst="rect">
            <a:avLst/>
          </a:prstGeom>
          <a:solidFill>
            <a:srgbClr val="152127"/>
          </a:solidFill>
        </p:spPr>
        <p:txBody>
          <a:bodyPr wrap="square" lIns="0" tIns="381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dirty="0" sz="1550" spc="-55">
                <a:solidFill>
                  <a:srgbClr val="E1E6E9"/>
                </a:solidFill>
                <a:latin typeface="Lucida Sans"/>
                <a:cs typeface="Lucida Sans"/>
              </a:rPr>
              <a:t>df.info()</a:t>
            </a:r>
            <a:endParaRPr sz="1550">
              <a:latin typeface="Lucida Sans"/>
              <a:cs typeface="Lucida San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58786" y="2417597"/>
            <a:ext cx="354330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25">
                <a:solidFill>
                  <a:srgbClr val="E1E6E9"/>
                </a:solidFill>
                <a:latin typeface="Arial"/>
                <a:cs typeface="Arial"/>
              </a:rPr>
              <a:t>and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054607" y="2392210"/>
            <a:ext cx="949325" cy="285750"/>
          </a:xfrm>
          <a:prstGeom prst="rect">
            <a:avLst/>
          </a:prstGeom>
          <a:solidFill>
            <a:srgbClr val="152127"/>
          </a:solidFill>
        </p:spPr>
        <p:txBody>
          <a:bodyPr wrap="square" lIns="0" tIns="381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dirty="0" sz="1550" spc="-45">
                <a:solidFill>
                  <a:srgbClr val="E1E6E9"/>
                </a:solidFill>
                <a:latin typeface="Lucida Sans"/>
                <a:cs typeface="Lucida Sans"/>
              </a:rPr>
              <a:t>.describe()</a:t>
            </a:r>
            <a:endParaRPr sz="1550">
              <a:latin typeface="Lucida Sans"/>
              <a:cs typeface="Lucida San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045368" y="2417597"/>
            <a:ext cx="1752600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for</a:t>
            </a:r>
            <a:r>
              <a:rPr dirty="0" sz="155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initial</a:t>
            </a:r>
            <a:r>
              <a:rPr dirty="0" sz="155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E1E6E9"/>
                </a:solidFill>
                <a:latin typeface="Arial"/>
                <a:cs typeface="Arial"/>
              </a:rPr>
              <a:t>inspection.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701873" y="3321608"/>
            <a:ext cx="7740650" cy="22860"/>
          </a:xfrm>
          <a:custGeom>
            <a:avLst/>
            <a:gdLst/>
            <a:ahLst/>
            <a:cxnLst/>
            <a:rect l="l" t="t" r="r" b="b"/>
            <a:pathLst>
              <a:path w="7740650" h="22860">
                <a:moveTo>
                  <a:pt x="7740256" y="0"/>
                </a:moveTo>
                <a:lnTo>
                  <a:pt x="0" y="0"/>
                </a:lnTo>
                <a:lnTo>
                  <a:pt x="0" y="22859"/>
                </a:lnTo>
                <a:lnTo>
                  <a:pt x="7740256" y="22859"/>
                </a:lnTo>
                <a:lnTo>
                  <a:pt x="7740256" y="0"/>
                </a:lnTo>
                <a:close/>
              </a:path>
            </a:pathLst>
          </a:custGeom>
          <a:solidFill>
            <a:srgbClr val="5F9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701873" y="4164444"/>
            <a:ext cx="1687830" cy="285750"/>
          </a:xfrm>
          <a:custGeom>
            <a:avLst/>
            <a:gdLst/>
            <a:ahLst/>
            <a:cxnLst/>
            <a:rect l="l" t="t" r="r" b="b"/>
            <a:pathLst>
              <a:path w="1687830" h="285750">
                <a:moveTo>
                  <a:pt x="1687817" y="0"/>
                </a:moveTo>
                <a:lnTo>
                  <a:pt x="0" y="0"/>
                </a:lnTo>
                <a:lnTo>
                  <a:pt x="0" y="285750"/>
                </a:lnTo>
                <a:lnTo>
                  <a:pt x="1687817" y="285750"/>
                </a:lnTo>
                <a:lnTo>
                  <a:pt x="1687817" y="0"/>
                </a:lnTo>
                <a:close/>
              </a:path>
            </a:pathLst>
          </a:custGeom>
          <a:solidFill>
            <a:srgbClr val="1521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701873" y="5098732"/>
            <a:ext cx="7740650" cy="22860"/>
          </a:xfrm>
          <a:custGeom>
            <a:avLst/>
            <a:gdLst/>
            <a:ahLst/>
            <a:cxnLst/>
            <a:rect l="l" t="t" r="r" b="b"/>
            <a:pathLst>
              <a:path w="7740650" h="22860">
                <a:moveTo>
                  <a:pt x="7740256" y="0"/>
                </a:moveTo>
                <a:lnTo>
                  <a:pt x="0" y="0"/>
                </a:lnTo>
                <a:lnTo>
                  <a:pt x="0" y="22859"/>
                </a:lnTo>
                <a:lnTo>
                  <a:pt x="7740256" y="22859"/>
                </a:lnTo>
                <a:lnTo>
                  <a:pt x="7740256" y="0"/>
                </a:lnTo>
                <a:close/>
              </a:path>
            </a:pathLst>
          </a:custGeom>
          <a:solidFill>
            <a:srgbClr val="5F9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89173" y="3036379"/>
            <a:ext cx="6870700" cy="2527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25">
                <a:solidFill>
                  <a:srgbClr val="E1E6E9"/>
                </a:solidFill>
                <a:latin typeface="Arial"/>
                <a:cs typeface="Arial"/>
              </a:rPr>
              <a:t>02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1950">
                <a:solidFill>
                  <a:srgbClr val="E1E6E9"/>
                </a:solidFill>
                <a:latin typeface="Arial"/>
                <a:cs typeface="Arial"/>
              </a:rPr>
              <a:t>Clean</a:t>
            </a:r>
            <a:r>
              <a:rPr dirty="0" sz="195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E1E6E9"/>
                </a:solidFill>
                <a:latin typeface="Arial"/>
                <a:cs typeface="Arial"/>
              </a:rPr>
              <a:t>&amp;</a:t>
            </a:r>
            <a:r>
              <a:rPr dirty="0" sz="195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E1E6E9"/>
                </a:solidFill>
                <a:latin typeface="Arial"/>
                <a:cs typeface="Arial"/>
              </a:rPr>
              <a:t>Standardize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Imputed</a:t>
            </a:r>
            <a:r>
              <a:rPr dirty="0" sz="155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missing</a:t>
            </a:r>
            <a:r>
              <a:rPr dirty="0" sz="155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ratings,</a:t>
            </a:r>
            <a:r>
              <a:rPr dirty="0" sz="155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renamed</a:t>
            </a:r>
            <a:r>
              <a:rPr dirty="0" sz="155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columns</a:t>
            </a:r>
            <a:r>
              <a:rPr dirty="0" sz="155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dirty="0" sz="155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snake_case,</a:t>
            </a:r>
            <a:r>
              <a:rPr dirty="0" sz="155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dropped</a:t>
            </a:r>
            <a:r>
              <a:rPr dirty="0" sz="155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E1E6E9"/>
                </a:solidFill>
                <a:latin typeface="Arial"/>
                <a:cs typeface="Arial"/>
              </a:rPr>
              <a:t>redundant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550" spc="-10">
                <a:solidFill>
                  <a:srgbClr val="E1E6E9"/>
                </a:solidFill>
                <a:latin typeface="Lucida Sans"/>
                <a:cs typeface="Lucida Sans"/>
              </a:rPr>
              <a:t>promo_code_used</a:t>
            </a:r>
            <a:r>
              <a:rPr dirty="0" sz="1550" spc="-10">
                <a:solidFill>
                  <a:srgbClr val="E1E6E9"/>
                </a:solidFill>
                <a:latin typeface="Arial"/>
                <a:cs typeface="Arial"/>
              </a:rPr>
              <a:t>.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50" spc="-25">
                <a:solidFill>
                  <a:srgbClr val="E1E6E9"/>
                </a:solidFill>
                <a:latin typeface="Arial"/>
                <a:cs typeface="Arial"/>
              </a:rPr>
              <a:t>03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1950">
                <a:solidFill>
                  <a:srgbClr val="E1E6E9"/>
                </a:solidFill>
                <a:latin typeface="Arial"/>
                <a:cs typeface="Arial"/>
              </a:rPr>
              <a:t>Feature</a:t>
            </a:r>
            <a:r>
              <a:rPr dirty="0" sz="1950" spc="-8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E1E6E9"/>
                </a:solidFill>
                <a:latin typeface="Arial"/>
                <a:cs typeface="Arial"/>
              </a:rPr>
              <a:t>Engineering</a:t>
            </a:r>
            <a:endParaRPr sz="19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89173" y="5681217"/>
            <a:ext cx="725170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10">
                <a:solidFill>
                  <a:srgbClr val="E1E6E9"/>
                </a:solidFill>
                <a:latin typeface="Arial"/>
                <a:cs typeface="Arial"/>
              </a:rPr>
              <a:t>Created</a:t>
            </a:r>
            <a:endParaRPr sz="15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456869" y="5655830"/>
            <a:ext cx="964565" cy="285750"/>
          </a:xfrm>
          <a:prstGeom prst="rect">
            <a:avLst/>
          </a:prstGeom>
          <a:solidFill>
            <a:srgbClr val="152127"/>
          </a:solidFill>
        </p:spPr>
        <p:txBody>
          <a:bodyPr wrap="square" lIns="0" tIns="381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dirty="0" sz="1550" spc="-50">
                <a:solidFill>
                  <a:srgbClr val="E1E6E9"/>
                </a:solidFill>
                <a:latin typeface="Lucida Sans"/>
                <a:cs typeface="Lucida Sans"/>
              </a:rPr>
              <a:t>age_group</a:t>
            </a:r>
            <a:endParaRPr sz="1550">
              <a:latin typeface="Lucida Sans"/>
              <a:cs typeface="Lucida San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463394" y="5681217"/>
            <a:ext cx="769620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bins</a:t>
            </a:r>
            <a:r>
              <a:rPr dirty="0" sz="155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E1E6E9"/>
                </a:solidFill>
                <a:latin typeface="Arial"/>
                <a:cs typeface="Arial"/>
              </a:rPr>
              <a:t>and</a:t>
            </a:r>
            <a:endParaRPr sz="155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275020" y="5655830"/>
            <a:ext cx="2372995" cy="285750"/>
          </a:xfrm>
          <a:prstGeom prst="rect">
            <a:avLst/>
          </a:prstGeom>
          <a:solidFill>
            <a:srgbClr val="152127"/>
          </a:solidFill>
        </p:spPr>
        <p:txBody>
          <a:bodyPr wrap="square" lIns="0" tIns="381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dirty="0" sz="1550" spc="-35">
                <a:solidFill>
                  <a:srgbClr val="E1E6E9"/>
                </a:solidFill>
                <a:latin typeface="Lucida Sans"/>
                <a:cs typeface="Lucida Sans"/>
              </a:rPr>
              <a:t>purchase_frequency_days</a:t>
            </a:r>
            <a:endParaRPr sz="1550">
              <a:latin typeface="Lucida Sans"/>
              <a:cs typeface="Lucida San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689944" y="5681217"/>
            <a:ext cx="1775460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from</a:t>
            </a:r>
            <a:r>
              <a:rPr dirty="0" sz="15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purchase</a:t>
            </a:r>
            <a:r>
              <a:rPr dirty="0" sz="15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E1E6E9"/>
                </a:solidFill>
                <a:latin typeface="Arial"/>
                <a:cs typeface="Arial"/>
              </a:rPr>
              <a:t>data.</a:t>
            </a:r>
            <a:endParaRPr sz="1550">
              <a:latin typeface="Arial"/>
              <a:cs typeface="Arial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701873" y="6585229"/>
            <a:ext cx="7740650" cy="22860"/>
          </a:xfrm>
          <a:custGeom>
            <a:avLst/>
            <a:gdLst/>
            <a:ahLst/>
            <a:cxnLst/>
            <a:rect l="l" t="t" r="r" b="b"/>
            <a:pathLst>
              <a:path w="7740650" h="22859">
                <a:moveTo>
                  <a:pt x="7740256" y="0"/>
                </a:moveTo>
                <a:lnTo>
                  <a:pt x="0" y="0"/>
                </a:lnTo>
                <a:lnTo>
                  <a:pt x="0" y="22859"/>
                </a:lnTo>
                <a:lnTo>
                  <a:pt x="7740256" y="22859"/>
                </a:lnTo>
                <a:lnTo>
                  <a:pt x="7740256" y="0"/>
                </a:lnTo>
                <a:close/>
              </a:path>
            </a:pathLst>
          </a:custGeom>
          <a:solidFill>
            <a:srgbClr val="5F9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689173" y="6299999"/>
            <a:ext cx="6511290" cy="1136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25">
                <a:solidFill>
                  <a:srgbClr val="E1E6E9"/>
                </a:solidFill>
                <a:latin typeface="Arial"/>
                <a:cs typeface="Arial"/>
              </a:rPr>
              <a:t>04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1950">
                <a:solidFill>
                  <a:srgbClr val="E1E6E9"/>
                </a:solidFill>
                <a:latin typeface="Arial"/>
                <a:cs typeface="Arial"/>
              </a:rPr>
              <a:t>Database</a:t>
            </a:r>
            <a:r>
              <a:rPr dirty="0" sz="1950" spc="-114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E1E6E9"/>
                </a:solidFill>
                <a:latin typeface="Arial"/>
                <a:cs typeface="Arial"/>
              </a:rPr>
              <a:t>Integration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Loaded</a:t>
            </a:r>
            <a:r>
              <a:rPr dirty="0" sz="155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cleaned</a:t>
            </a:r>
            <a:r>
              <a:rPr dirty="0" sz="155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DataFrame</a:t>
            </a:r>
            <a:r>
              <a:rPr dirty="0" sz="155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into</a:t>
            </a:r>
            <a:r>
              <a:rPr dirty="0" sz="155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E1E6E9"/>
                </a:solidFill>
                <a:latin typeface="Arial"/>
                <a:cs typeface="Arial"/>
              </a:rPr>
              <a:t>PostgreSQL</a:t>
            </a:r>
            <a:r>
              <a:rPr dirty="0" sz="1550" spc="-45" b="1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for</a:t>
            </a:r>
            <a:r>
              <a:rPr dirty="0" sz="155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structured</a:t>
            </a:r>
            <a:r>
              <a:rPr dirty="0" sz="155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SQL</a:t>
            </a:r>
            <a:r>
              <a:rPr dirty="0" sz="155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E1E6E9"/>
                </a:solidFill>
                <a:latin typeface="Arial"/>
                <a:cs typeface="Arial"/>
              </a:rPr>
              <a:t>analysis.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098" y="1547838"/>
            <a:ext cx="8137525" cy="7645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48585" algn="l"/>
                <a:tab pos="3230245" algn="l"/>
                <a:tab pos="6003925" algn="l"/>
              </a:tabLst>
            </a:pPr>
            <a:r>
              <a:rPr dirty="0" spc="-10"/>
              <a:t>Revenue</a:t>
            </a:r>
            <a:r>
              <a:rPr dirty="0"/>
              <a:t>	</a:t>
            </a:r>
            <a:r>
              <a:rPr dirty="0" spc="-50"/>
              <a:t>&amp;</a:t>
            </a:r>
            <a:r>
              <a:rPr dirty="0"/>
              <a:t>	</a:t>
            </a:r>
            <a:r>
              <a:rPr dirty="0" spc="-10"/>
              <a:t>Spending</a:t>
            </a:r>
            <a:r>
              <a:rPr dirty="0"/>
              <a:t>	</a:t>
            </a:r>
            <a:r>
              <a:rPr dirty="0" spc="-10"/>
              <a:t>Insights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798" y="2963468"/>
            <a:ext cx="6150292" cy="402395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63798" y="2963468"/>
            <a:ext cx="6150610" cy="40239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650">
              <a:latin typeface="Times New Roman"/>
              <a:cs typeface="Times New Roman"/>
            </a:endParaRPr>
          </a:p>
          <a:p>
            <a:pPr marL="5751195">
              <a:lnSpc>
                <a:spcPts val="715"/>
              </a:lnSpc>
            </a:pPr>
            <a:r>
              <a:rPr dirty="0" sz="650" spc="-25">
                <a:solidFill>
                  <a:srgbClr val="FFFFFF"/>
                </a:solidFill>
                <a:latin typeface="Arial"/>
                <a:cs typeface="Arial"/>
              </a:rPr>
              <a:t>158</a:t>
            </a:r>
            <a:endParaRPr sz="650">
              <a:latin typeface="Arial"/>
              <a:cs typeface="Arial"/>
            </a:endParaRPr>
          </a:p>
          <a:p>
            <a:pPr marL="5751195">
              <a:lnSpc>
                <a:spcPts val="715"/>
              </a:lnSpc>
            </a:pPr>
            <a:r>
              <a:rPr dirty="0" sz="650" spc="-5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650">
              <a:latin typeface="Arial"/>
              <a:cs typeface="Arial"/>
            </a:endParaRPr>
          </a:p>
          <a:p>
            <a:pPr marL="2820035">
              <a:lnSpc>
                <a:spcPts val="715"/>
              </a:lnSpc>
            </a:pPr>
            <a:r>
              <a:rPr dirty="0" sz="650" spc="-20">
                <a:latin typeface="Arial"/>
                <a:cs typeface="Arial"/>
              </a:rPr>
              <a:t>75.2</a:t>
            </a:r>
            <a:endParaRPr sz="650">
              <a:latin typeface="Arial"/>
              <a:cs typeface="Arial"/>
            </a:endParaRPr>
          </a:p>
          <a:p>
            <a:pPr marL="2820035">
              <a:lnSpc>
                <a:spcPts val="715"/>
              </a:lnSpc>
            </a:pPr>
            <a:r>
              <a:rPr dirty="0" sz="650" spc="-50">
                <a:latin typeface="Arial"/>
                <a:cs typeface="Arial"/>
              </a:rPr>
              <a:t>k</a:t>
            </a:r>
            <a:endParaRPr sz="6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611224" y="2928721"/>
            <a:ext cx="17875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5EFEF"/>
                </a:solidFill>
                <a:latin typeface="Arial"/>
                <a:cs typeface="Arial"/>
              </a:rPr>
              <a:t>Key</a:t>
            </a:r>
            <a:r>
              <a:rPr dirty="0" sz="2400" spc="-30">
                <a:solidFill>
                  <a:srgbClr val="F5EFE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5EFEF"/>
                </a:solidFill>
                <a:latin typeface="Arial"/>
                <a:cs typeface="Arial"/>
              </a:rPr>
              <a:t>Findings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611224" y="3547160"/>
            <a:ext cx="6087745" cy="2387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70280">
              <a:lnSpc>
                <a:spcPct val="136000"/>
              </a:lnSpc>
              <a:spcBef>
                <a:spcPts val="100"/>
              </a:spcBef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Male</a:t>
            </a:r>
            <a:r>
              <a:rPr dirty="0" sz="1900" spc="-8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customers</a:t>
            </a:r>
            <a:r>
              <a:rPr dirty="0" sz="1900" spc="-8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generated</a:t>
            </a:r>
            <a:r>
              <a:rPr dirty="0" sz="1900" spc="-7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E1E6E9"/>
                </a:solidFill>
                <a:latin typeface="Arial"/>
                <a:cs typeface="Arial"/>
              </a:rPr>
              <a:t>$157,890</a:t>
            </a:r>
            <a:r>
              <a:rPr dirty="0" sz="1900" spc="-75" b="1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vs.</a:t>
            </a:r>
            <a:r>
              <a:rPr dirty="0" sz="1900" spc="-7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female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customers'</a:t>
            </a:r>
            <a:r>
              <a:rPr dirty="0" sz="1900" spc="-1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E1E6E9"/>
                </a:solidFill>
                <a:latin typeface="Arial"/>
                <a:cs typeface="Arial"/>
              </a:rPr>
              <a:t>$75,191</a:t>
            </a:r>
            <a:endParaRPr sz="1900">
              <a:latin typeface="Arial"/>
              <a:cs typeface="Arial"/>
            </a:endParaRPr>
          </a:p>
          <a:p>
            <a:pPr marL="12700" marR="114300">
              <a:lnSpc>
                <a:spcPct val="136000"/>
              </a:lnSpc>
            </a:pPr>
            <a:r>
              <a:rPr dirty="0" sz="1900" b="1">
                <a:solidFill>
                  <a:srgbClr val="E1E6E9"/>
                </a:solidFill>
                <a:latin typeface="Arial"/>
                <a:cs typeface="Arial"/>
              </a:rPr>
              <a:t>839</a:t>
            </a:r>
            <a:r>
              <a:rPr dirty="0" sz="1900" spc="-70" b="1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E1E6E9"/>
                </a:solidFill>
                <a:latin typeface="Arial"/>
                <a:cs typeface="Arial"/>
              </a:rPr>
              <a:t>customers</a:t>
            </a:r>
            <a:r>
              <a:rPr dirty="0" sz="1900" spc="-60" b="1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used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discounts</a:t>
            </a:r>
            <a:r>
              <a:rPr dirty="0" sz="1900" spc="-7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yet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still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spent</a:t>
            </a:r>
            <a:r>
              <a:rPr dirty="0" sz="1900" spc="-7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above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the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average</a:t>
            </a:r>
            <a:r>
              <a:rPr dirty="0" sz="1900" spc="-1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purchase</a:t>
            </a:r>
            <a:r>
              <a:rPr dirty="0" sz="1900" spc="-10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amount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Express</a:t>
            </a:r>
            <a:r>
              <a:rPr dirty="0" sz="1900" spc="-7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shipping</a:t>
            </a:r>
            <a:r>
              <a:rPr dirty="0" sz="1900" spc="-7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users</a:t>
            </a:r>
            <a:r>
              <a:rPr dirty="0" sz="1900" spc="-7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averaged</a:t>
            </a:r>
            <a:r>
              <a:rPr dirty="0" sz="1900" spc="-7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E1E6E9"/>
                </a:solidFill>
                <a:latin typeface="Arial"/>
                <a:cs typeface="Arial"/>
              </a:rPr>
              <a:t>$60.48</a:t>
            </a:r>
            <a:r>
              <a:rPr dirty="0" sz="1900" spc="-65" b="1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vs.</a:t>
            </a:r>
            <a:r>
              <a:rPr dirty="0" sz="1900" spc="-7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Standard</a:t>
            </a:r>
            <a:r>
              <a:rPr dirty="0" sz="1900" spc="-7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at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900" spc="-10" b="1">
                <a:solidFill>
                  <a:srgbClr val="E1E6E9"/>
                </a:solidFill>
                <a:latin typeface="Arial"/>
                <a:cs typeface="Arial"/>
              </a:rPr>
              <a:t>$58.46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4189" y="989327"/>
            <a:ext cx="11928475" cy="741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5930" algn="l"/>
                <a:tab pos="5514340" algn="l"/>
                <a:tab pos="6078855" algn="l"/>
                <a:tab pos="8562975" algn="l"/>
              </a:tabLst>
            </a:pPr>
            <a:r>
              <a:rPr dirty="0" sz="4700" spc="-20"/>
              <a:t>Top-</a:t>
            </a:r>
            <a:r>
              <a:rPr dirty="0" sz="4700" spc="-10"/>
              <a:t>Rated</a:t>
            </a:r>
            <a:r>
              <a:rPr dirty="0" sz="4700"/>
              <a:t>	</a:t>
            </a:r>
            <a:r>
              <a:rPr dirty="0" sz="4700" spc="-10"/>
              <a:t>Products</a:t>
            </a:r>
            <a:r>
              <a:rPr dirty="0" sz="4700"/>
              <a:t>	</a:t>
            </a:r>
            <a:r>
              <a:rPr dirty="0" sz="4700" spc="-50"/>
              <a:t>&amp;</a:t>
            </a:r>
            <a:r>
              <a:rPr dirty="0" sz="4700"/>
              <a:t>	</a:t>
            </a:r>
            <a:r>
              <a:rPr dirty="0" sz="4700" spc="-10"/>
              <a:t>Discount</a:t>
            </a:r>
            <a:r>
              <a:rPr dirty="0" sz="4700"/>
              <a:t>	</a:t>
            </a:r>
            <a:r>
              <a:rPr dirty="0" sz="4700" spc="-10"/>
              <a:t>Dependency</a:t>
            </a:r>
            <a:endParaRPr sz="4700"/>
          </a:p>
        </p:txBody>
      </p:sp>
      <p:sp>
        <p:nvSpPr>
          <p:cNvPr id="3" name="object 3" descr=""/>
          <p:cNvSpPr txBox="1"/>
          <p:nvPr/>
        </p:nvSpPr>
        <p:spPr>
          <a:xfrm>
            <a:off x="824189" y="2305367"/>
            <a:ext cx="3391535" cy="383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>
                <a:solidFill>
                  <a:srgbClr val="F5EFEF"/>
                </a:solidFill>
                <a:latin typeface="Arial"/>
                <a:cs typeface="Arial"/>
              </a:rPr>
              <a:t>Top</a:t>
            </a:r>
            <a:r>
              <a:rPr dirty="0" sz="2350" spc="-45">
                <a:solidFill>
                  <a:srgbClr val="F5EFEF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5EFEF"/>
                </a:solidFill>
                <a:latin typeface="Arial"/>
                <a:cs typeface="Arial"/>
              </a:rPr>
              <a:t>5</a:t>
            </a:r>
            <a:r>
              <a:rPr dirty="0" sz="2350" spc="-45">
                <a:solidFill>
                  <a:srgbClr val="F5EFEF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5EFEF"/>
                </a:solidFill>
                <a:latin typeface="Arial"/>
                <a:cs typeface="Arial"/>
              </a:rPr>
              <a:t>Products</a:t>
            </a:r>
            <a:r>
              <a:rPr dirty="0" sz="2350" spc="-45">
                <a:solidFill>
                  <a:srgbClr val="F5EFEF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5EFEF"/>
                </a:solidFill>
                <a:latin typeface="Arial"/>
                <a:cs typeface="Arial"/>
              </a:rPr>
              <a:t>by</a:t>
            </a:r>
            <a:r>
              <a:rPr dirty="0" sz="2350" spc="-40">
                <a:solidFill>
                  <a:srgbClr val="F5EFEF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F5EFEF"/>
                </a:solidFill>
                <a:latin typeface="Arial"/>
                <a:cs typeface="Arial"/>
              </a:rPr>
              <a:t>Rating</a:t>
            </a:r>
            <a:endParaRPr sz="2350">
              <a:latin typeface="Arial"/>
              <a:cs typeface="Arial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33079" y="2942352"/>
          <a:ext cx="6270625" cy="40309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200"/>
                <a:gridCol w="3951604"/>
              </a:tblGrid>
              <a:tr h="676910"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1905"/>
                        </a:spcBef>
                      </a:pPr>
                      <a:r>
                        <a:rPr dirty="0" sz="1850" spc="-10" b="1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Product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41935">
                    <a:lnL w="9525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00455">
                        <a:lnSpc>
                          <a:spcPct val="100000"/>
                        </a:lnSpc>
                        <a:spcBef>
                          <a:spcPts val="1905"/>
                        </a:spcBef>
                      </a:pPr>
                      <a:r>
                        <a:rPr dirty="0" sz="1850" b="1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Avg.</a:t>
                      </a:r>
                      <a:r>
                        <a:rPr dirty="0" sz="1850" spc="-10" b="1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Rating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41935">
                    <a:lnR w="952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669290"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dirty="0" sz="185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Gloves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34315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00455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dirty="0" sz="1850" spc="-2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3.86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34315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669290"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dirty="0" sz="185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Sandals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34315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00455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dirty="0" sz="1850" spc="-2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3.84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34315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669290"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dirty="0" sz="185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Boots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34315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00455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dirty="0" sz="1850" spc="-2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3.82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34315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669290"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dirty="0" sz="1850" spc="-25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Hat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34315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00455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dirty="0" sz="1850" spc="-2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3.80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34315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dirty="0" sz="185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Skirt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34315">
                    <a:lnL w="9525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00455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dirty="0" sz="1850" spc="-2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3.78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34315">
                    <a:lnR w="9525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7601825" y="2305367"/>
            <a:ext cx="4730750" cy="383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>
                <a:solidFill>
                  <a:srgbClr val="F5EFEF"/>
                </a:solidFill>
                <a:latin typeface="Arial"/>
                <a:cs typeface="Arial"/>
              </a:rPr>
              <a:t>Most</a:t>
            </a:r>
            <a:r>
              <a:rPr dirty="0" sz="2350" spc="-70">
                <a:solidFill>
                  <a:srgbClr val="F5EFEF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F5EFEF"/>
                </a:solidFill>
                <a:latin typeface="Arial"/>
                <a:cs typeface="Arial"/>
              </a:rPr>
              <a:t>Discount-</a:t>
            </a:r>
            <a:r>
              <a:rPr dirty="0" sz="2350">
                <a:solidFill>
                  <a:srgbClr val="F5EFEF"/>
                </a:solidFill>
                <a:latin typeface="Arial"/>
                <a:cs typeface="Arial"/>
              </a:rPr>
              <a:t>Dependent</a:t>
            </a:r>
            <a:r>
              <a:rPr dirty="0" sz="2350" spc="-70">
                <a:solidFill>
                  <a:srgbClr val="F5EFEF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F5EFEF"/>
                </a:solidFill>
                <a:latin typeface="Arial"/>
                <a:cs typeface="Arial"/>
              </a:rPr>
              <a:t>Products</a:t>
            </a:r>
            <a:endParaRPr sz="2350">
              <a:latin typeface="Arial"/>
              <a:cs typeface="Arial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7610716" y="2942352"/>
          <a:ext cx="6270625" cy="40309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7905"/>
                <a:gridCol w="3898900"/>
              </a:tblGrid>
              <a:tr h="676910"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1905"/>
                        </a:spcBef>
                      </a:pPr>
                      <a:r>
                        <a:rPr dirty="0" sz="1850" spc="-10" b="1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Product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41935">
                    <a:lnL w="9525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48385">
                        <a:lnSpc>
                          <a:spcPct val="100000"/>
                        </a:lnSpc>
                        <a:spcBef>
                          <a:spcPts val="1905"/>
                        </a:spcBef>
                      </a:pPr>
                      <a:r>
                        <a:rPr dirty="0" sz="1850" b="1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Discount</a:t>
                      </a:r>
                      <a:r>
                        <a:rPr dirty="0" sz="1850" spc="-15" b="1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20" b="1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Rate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41935">
                    <a:lnR w="952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669290"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dirty="0" sz="1850" spc="-25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Hat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34315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48385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dirty="0" sz="185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50.00%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34315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669290"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dirty="0" sz="185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Sneakers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34315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48385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dirty="0" sz="185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49.66%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34315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669290"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dirty="0" sz="1850" spc="-2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Coat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34315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48385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dirty="0" sz="185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49.07%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34315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669290"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dirty="0" sz="185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Sweater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34315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48385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dirty="0" sz="185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48.17%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34315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dirty="0" sz="185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Pants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34315">
                    <a:lnL w="9525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48385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dirty="0" sz="185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47.37%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34315">
                    <a:lnR w="9525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098" y="1121477"/>
            <a:ext cx="6662420" cy="7645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1785" algn="l"/>
              </a:tabLst>
            </a:pPr>
            <a:r>
              <a:rPr dirty="0" spc="-10"/>
              <a:t>Customer</a:t>
            </a:r>
            <a:r>
              <a:rPr dirty="0"/>
              <a:t>	</a:t>
            </a:r>
            <a:r>
              <a:rPr dirty="0" spc="-10"/>
              <a:t>Segmentation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63798" y="2613304"/>
            <a:ext cx="6150610" cy="3947795"/>
            <a:chOff x="863798" y="2613304"/>
            <a:chExt cx="6150610" cy="394779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3798" y="2613304"/>
              <a:ext cx="6150292" cy="3947756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276138" y="4223854"/>
              <a:ext cx="807085" cy="165100"/>
            </a:xfrm>
            <a:custGeom>
              <a:avLst/>
              <a:gdLst/>
              <a:ahLst/>
              <a:cxnLst/>
              <a:rect l="l" t="t" r="r" b="b"/>
              <a:pathLst>
                <a:path w="807085" h="165100">
                  <a:moveTo>
                    <a:pt x="724376" y="0"/>
                  </a:moveTo>
                  <a:lnTo>
                    <a:pt x="82271" y="0"/>
                  </a:lnTo>
                  <a:lnTo>
                    <a:pt x="50376" y="6507"/>
                  </a:lnTo>
                  <a:lnTo>
                    <a:pt x="24211" y="24209"/>
                  </a:lnTo>
                  <a:lnTo>
                    <a:pt x="6508" y="50374"/>
                  </a:lnTo>
                  <a:lnTo>
                    <a:pt x="0" y="82270"/>
                  </a:lnTo>
                  <a:lnTo>
                    <a:pt x="6508" y="114167"/>
                  </a:lnTo>
                  <a:lnTo>
                    <a:pt x="24211" y="140331"/>
                  </a:lnTo>
                  <a:lnTo>
                    <a:pt x="50376" y="158033"/>
                  </a:lnTo>
                  <a:lnTo>
                    <a:pt x="82271" y="164541"/>
                  </a:lnTo>
                  <a:lnTo>
                    <a:pt x="724376" y="164541"/>
                  </a:lnTo>
                  <a:lnTo>
                    <a:pt x="756271" y="158033"/>
                  </a:lnTo>
                  <a:lnTo>
                    <a:pt x="782437" y="140331"/>
                  </a:lnTo>
                  <a:lnTo>
                    <a:pt x="800140" y="114167"/>
                  </a:lnTo>
                  <a:lnTo>
                    <a:pt x="806648" y="82270"/>
                  </a:lnTo>
                  <a:lnTo>
                    <a:pt x="800140" y="50374"/>
                  </a:lnTo>
                  <a:lnTo>
                    <a:pt x="782437" y="24209"/>
                  </a:lnTo>
                  <a:lnTo>
                    <a:pt x="756271" y="6507"/>
                  </a:lnTo>
                  <a:lnTo>
                    <a:pt x="724376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276138" y="4223854"/>
              <a:ext cx="807085" cy="165100"/>
            </a:xfrm>
            <a:custGeom>
              <a:avLst/>
              <a:gdLst/>
              <a:ahLst/>
              <a:cxnLst/>
              <a:rect l="l" t="t" r="r" b="b"/>
              <a:pathLst>
                <a:path w="807085" h="165100">
                  <a:moveTo>
                    <a:pt x="0" y="82270"/>
                  </a:moveTo>
                  <a:lnTo>
                    <a:pt x="6508" y="50374"/>
                  </a:lnTo>
                  <a:lnTo>
                    <a:pt x="24211" y="24209"/>
                  </a:lnTo>
                  <a:lnTo>
                    <a:pt x="50376" y="6507"/>
                  </a:lnTo>
                  <a:lnTo>
                    <a:pt x="82271" y="0"/>
                  </a:lnTo>
                  <a:lnTo>
                    <a:pt x="724376" y="0"/>
                  </a:lnTo>
                  <a:lnTo>
                    <a:pt x="756271" y="6507"/>
                  </a:lnTo>
                  <a:lnTo>
                    <a:pt x="782437" y="24209"/>
                  </a:lnTo>
                  <a:lnTo>
                    <a:pt x="800140" y="50374"/>
                  </a:lnTo>
                  <a:lnTo>
                    <a:pt x="806648" y="82270"/>
                  </a:lnTo>
                  <a:lnTo>
                    <a:pt x="800140" y="114167"/>
                  </a:lnTo>
                  <a:lnTo>
                    <a:pt x="782437" y="140331"/>
                  </a:lnTo>
                  <a:lnTo>
                    <a:pt x="756271" y="158033"/>
                  </a:lnTo>
                  <a:lnTo>
                    <a:pt x="724376" y="164541"/>
                  </a:lnTo>
                  <a:lnTo>
                    <a:pt x="82271" y="164541"/>
                  </a:lnTo>
                  <a:lnTo>
                    <a:pt x="50376" y="158033"/>
                  </a:lnTo>
                  <a:lnTo>
                    <a:pt x="24211" y="140331"/>
                  </a:lnTo>
                  <a:lnTo>
                    <a:pt x="6508" y="114167"/>
                  </a:lnTo>
                  <a:lnTo>
                    <a:pt x="0" y="82270"/>
                  </a:lnTo>
                  <a:close/>
                </a:path>
              </a:pathLst>
            </a:custGeom>
            <a:ln w="7619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29478" y="4260418"/>
              <a:ext cx="91439" cy="9144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276138" y="4449368"/>
              <a:ext cx="1064895" cy="165100"/>
            </a:xfrm>
            <a:custGeom>
              <a:avLst/>
              <a:gdLst/>
              <a:ahLst/>
              <a:cxnLst/>
              <a:rect l="l" t="t" r="r" b="b"/>
              <a:pathLst>
                <a:path w="1064895" h="165100">
                  <a:moveTo>
                    <a:pt x="982384" y="0"/>
                  </a:moveTo>
                  <a:lnTo>
                    <a:pt x="82271" y="0"/>
                  </a:lnTo>
                  <a:lnTo>
                    <a:pt x="50376" y="6507"/>
                  </a:lnTo>
                  <a:lnTo>
                    <a:pt x="24211" y="24209"/>
                  </a:lnTo>
                  <a:lnTo>
                    <a:pt x="6508" y="50374"/>
                  </a:lnTo>
                  <a:lnTo>
                    <a:pt x="0" y="82270"/>
                  </a:lnTo>
                  <a:lnTo>
                    <a:pt x="6508" y="114167"/>
                  </a:lnTo>
                  <a:lnTo>
                    <a:pt x="24211" y="140331"/>
                  </a:lnTo>
                  <a:lnTo>
                    <a:pt x="50376" y="158033"/>
                  </a:lnTo>
                  <a:lnTo>
                    <a:pt x="82271" y="164541"/>
                  </a:lnTo>
                  <a:lnTo>
                    <a:pt x="982384" y="164541"/>
                  </a:lnTo>
                  <a:lnTo>
                    <a:pt x="1014279" y="158033"/>
                  </a:lnTo>
                  <a:lnTo>
                    <a:pt x="1040445" y="140331"/>
                  </a:lnTo>
                  <a:lnTo>
                    <a:pt x="1058148" y="114167"/>
                  </a:lnTo>
                  <a:lnTo>
                    <a:pt x="1064656" y="82270"/>
                  </a:lnTo>
                  <a:lnTo>
                    <a:pt x="1058148" y="50374"/>
                  </a:lnTo>
                  <a:lnTo>
                    <a:pt x="1040445" y="24209"/>
                  </a:lnTo>
                  <a:lnTo>
                    <a:pt x="1014279" y="6507"/>
                  </a:lnTo>
                  <a:lnTo>
                    <a:pt x="982384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276138" y="4449368"/>
              <a:ext cx="1064895" cy="165100"/>
            </a:xfrm>
            <a:custGeom>
              <a:avLst/>
              <a:gdLst/>
              <a:ahLst/>
              <a:cxnLst/>
              <a:rect l="l" t="t" r="r" b="b"/>
              <a:pathLst>
                <a:path w="1064895" h="165100">
                  <a:moveTo>
                    <a:pt x="0" y="82270"/>
                  </a:moveTo>
                  <a:lnTo>
                    <a:pt x="6508" y="50374"/>
                  </a:lnTo>
                  <a:lnTo>
                    <a:pt x="24211" y="24209"/>
                  </a:lnTo>
                  <a:lnTo>
                    <a:pt x="50376" y="6507"/>
                  </a:lnTo>
                  <a:lnTo>
                    <a:pt x="82271" y="0"/>
                  </a:lnTo>
                  <a:lnTo>
                    <a:pt x="982384" y="0"/>
                  </a:lnTo>
                  <a:lnTo>
                    <a:pt x="1014279" y="6507"/>
                  </a:lnTo>
                  <a:lnTo>
                    <a:pt x="1040445" y="24209"/>
                  </a:lnTo>
                  <a:lnTo>
                    <a:pt x="1058148" y="50374"/>
                  </a:lnTo>
                  <a:lnTo>
                    <a:pt x="1064656" y="82270"/>
                  </a:lnTo>
                  <a:lnTo>
                    <a:pt x="1058148" y="114167"/>
                  </a:lnTo>
                  <a:lnTo>
                    <a:pt x="1040445" y="140331"/>
                  </a:lnTo>
                  <a:lnTo>
                    <a:pt x="1014279" y="158033"/>
                  </a:lnTo>
                  <a:lnTo>
                    <a:pt x="982384" y="164541"/>
                  </a:lnTo>
                  <a:lnTo>
                    <a:pt x="82271" y="164541"/>
                  </a:lnTo>
                  <a:lnTo>
                    <a:pt x="50376" y="158033"/>
                  </a:lnTo>
                  <a:lnTo>
                    <a:pt x="24211" y="140331"/>
                  </a:lnTo>
                  <a:lnTo>
                    <a:pt x="6508" y="114167"/>
                  </a:lnTo>
                  <a:lnTo>
                    <a:pt x="0" y="82270"/>
                  </a:lnTo>
                  <a:close/>
                </a:path>
              </a:pathLst>
            </a:custGeom>
            <a:ln w="7619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29478" y="4485919"/>
              <a:ext cx="91439" cy="91440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5276138" y="4674870"/>
              <a:ext cx="775335" cy="165100"/>
            </a:xfrm>
            <a:custGeom>
              <a:avLst/>
              <a:gdLst/>
              <a:ahLst/>
              <a:cxnLst/>
              <a:rect l="l" t="t" r="r" b="b"/>
              <a:pathLst>
                <a:path w="775335" h="165100">
                  <a:moveTo>
                    <a:pt x="692586" y="0"/>
                  </a:moveTo>
                  <a:lnTo>
                    <a:pt x="82271" y="0"/>
                  </a:lnTo>
                  <a:lnTo>
                    <a:pt x="50376" y="6507"/>
                  </a:lnTo>
                  <a:lnTo>
                    <a:pt x="24211" y="24209"/>
                  </a:lnTo>
                  <a:lnTo>
                    <a:pt x="6508" y="50374"/>
                  </a:lnTo>
                  <a:lnTo>
                    <a:pt x="0" y="82270"/>
                  </a:lnTo>
                  <a:lnTo>
                    <a:pt x="6508" y="114167"/>
                  </a:lnTo>
                  <a:lnTo>
                    <a:pt x="24211" y="140331"/>
                  </a:lnTo>
                  <a:lnTo>
                    <a:pt x="50376" y="158033"/>
                  </a:lnTo>
                  <a:lnTo>
                    <a:pt x="82271" y="164541"/>
                  </a:lnTo>
                  <a:lnTo>
                    <a:pt x="692586" y="164541"/>
                  </a:lnTo>
                  <a:lnTo>
                    <a:pt x="724482" y="158033"/>
                  </a:lnTo>
                  <a:lnTo>
                    <a:pt x="750647" y="140331"/>
                  </a:lnTo>
                  <a:lnTo>
                    <a:pt x="768350" y="114167"/>
                  </a:lnTo>
                  <a:lnTo>
                    <a:pt x="774858" y="82270"/>
                  </a:lnTo>
                  <a:lnTo>
                    <a:pt x="768350" y="50374"/>
                  </a:lnTo>
                  <a:lnTo>
                    <a:pt x="750647" y="24209"/>
                  </a:lnTo>
                  <a:lnTo>
                    <a:pt x="724482" y="6507"/>
                  </a:lnTo>
                  <a:lnTo>
                    <a:pt x="692586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276138" y="4674870"/>
              <a:ext cx="775335" cy="165100"/>
            </a:xfrm>
            <a:custGeom>
              <a:avLst/>
              <a:gdLst/>
              <a:ahLst/>
              <a:cxnLst/>
              <a:rect l="l" t="t" r="r" b="b"/>
              <a:pathLst>
                <a:path w="775335" h="165100">
                  <a:moveTo>
                    <a:pt x="0" y="82270"/>
                  </a:moveTo>
                  <a:lnTo>
                    <a:pt x="6508" y="50374"/>
                  </a:lnTo>
                  <a:lnTo>
                    <a:pt x="24211" y="24209"/>
                  </a:lnTo>
                  <a:lnTo>
                    <a:pt x="50376" y="6507"/>
                  </a:lnTo>
                  <a:lnTo>
                    <a:pt x="82271" y="0"/>
                  </a:lnTo>
                  <a:lnTo>
                    <a:pt x="692586" y="0"/>
                  </a:lnTo>
                  <a:lnTo>
                    <a:pt x="724482" y="6507"/>
                  </a:lnTo>
                  <a:lnTo>
                    <a:pt x="750647" y="24209"/>
                  </a:lnTo>
                  <a:lnTo>
                    <a:pt x="768350" y="50374"/>
                  </a:lnTo>
                  <a:lnTo>
                    <a:pt x="774858" y="82270"/>
                  </a:lnTo>
                  <a:lnTo>
                    <a:pt x="768350" y="114167"/>
                  </a:lnTo>
                  <a:lnTo>
                    <a:pt x="750647" y="140331"/>
                  </a:lnTo>
                  <a:lnTo>
                    <a:pt x="724482" y="158033"/>
                  </a:lnTo>
                  <a:lnTo>
                    <a:pt x="692586" y="164541"/>
                  </a:lnTo>
                  <a:lnTo>
                    <a:pt x="82271" y="164541"/>
                  </a:lnTo>
                  <a:lnTo>
                    <a:pt x="50376" y="158033"/>
                  </a:lnTo>
                  <a:lnTo>
                    <a:pt x="24211" y="140331"/>
                  </a:lnTo>
                  <a:lnTo>
                    <a:pt x="6508" y="114167"/>
                  </a:lnTo>
                  <a:lnTo>
                    <a:pt x="0" y="82270"/>
                  </a:lnTo>
                  <a:close/>
                </a:path>
              </a:pathLst>
            </a:custGeom>
            <a:ln w="7619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9478" y="4711420"/>
              <a:ext cx="91439" cy="91440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863798" y="2613304"/>
            <a:ext cx="6150610" cy="3947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1678939">
              <a:lnSpc>
                <a:spcPts val="240"/>
              </a:lnSpc>
            </a:pPr>
            <a:r>
              <a:rPr dirty="0" sz="650" spc="-10">
                <a:solidFill>
                  <a:srgbClr val="FFFFFF"/>
                </a:solidFill>
                <a:latin typeface="Arial"/>
                <a:cs typeface="Arial"/>
              </a:rPr>
              <a:t>2.13%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650">
              <a:latin typeface="Arial"/>
              <a:cs typeface="Arial"/>
            </a:endParaRPr>
          </a:p>
          <a:p>
            <a:pPr marL="997585">
              <a:lnSpc>
                <a:spcPct val="100000"/>
              </a:lnSpc>
              <a:spcBef>
                <a:spcPts val="5"/>
              </a:spcBef>
            </a:pPr>
            <a:r>
              <a:rPr dirty="0" sz="650" spc="-10">
                <a:solidFill>
                  <a:srgbClr val="FFFFFF"/>
                </a:solidFill>
                <a:latin typeface="Arial"/>
                <a:cs typeface="Arial"/>
              </a:rPr>
              <a:t>17.97%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650">
              <a:latin typeface="Arial"/>
              <a:cs typeface="Arial"/>
            </a:endParaRPr>
          </a:p>
          <a:p>
            <a:pPr marL="4587240">
              <a:lnSpc>
                <a:spcPct val="100000"/>
              </a:lnSpc>
            </a:pPr>
            <a:r>
              <a:rPr dirty="0" sz="700" spc="-70">
                <a:solidFill>
                  <a:srgbClr val="E1E6E9"/>
                </a:solidFill>
                <a:latin typeface="Arial"/>
                <a:cs typeface="Arial"/>
              </a:rPr>
              <a:t>Loyal··</a:t>
            </a:r>
            <a:r>
              <a:rPr dirty="0" sz="700" spc="-70" b="1">
                <a:solidFill>
                  <a:srgbClr val="E1E6E9"/>
                </a:solidFill>
                <a:latin typeface="Arial"/>
                <a:cs typeface="Arial"/>
              </a:rPr>
              <a:t>7</a:t>
            </a:r>
            <a:r>
              <a:rPr dirty="0" sz="700" spc="-70">
                <a:solidFill>
                  <a:srgbClr val="E1E6E9"/>
                </a:solidFill>
                <a:latin typeface="Arial"/>
                <a:cs typeface="Arial"/>
              </a:rPr>
              <a:t>·</a:t>
            </a:r>
            <a:r>
              <a:rPr dirty="0" sz="7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700" spc="-20" b="1">
                <a:solidFill>
                  <a:srgbClr val="E1E6E9"/>
                </a:solidFill>
                <a:latin typeface="Arial"/>
                <a:cs typeface="Arial"/>
              </a:rPr>
              <a:t>9.9%</a:t>
            </a:r>
            <a:endParaRPr sz="700">
              <a:latin typeface="Arial"/>
              <a:cs typeface="Arial"/>
            </a:endParaRPr>
          </a:p>
          <a:p>
            <a:pPr marL="4587240" marR="800100">
              <a:lnSpc>
                <a:spcPct val="211400"/>
              </a:lnSpc>
            </a:pPr>
            <a:r>
              <a:rPr dirty="0" sz="700" spc="-85">
                <a:solidFill>
                  <a:srgbClr val="E1E6E9"/>
                </a:solidFill>
                <a:latin typeface="Arial"/>
                <a:cs typeface="Arial"/>
              </a:rPr>
              <a:t>Returning·1·17·</a:t>
            </a:r>
            <a:r>
              <a:rPr dirty="0" sz="700" spc="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700" spc="-180">
                <a:solidFill>
                  <a:srgbClr val="E1E6E9"/>
                </a:solidFill>
                <a:latin typeface="Arial"/>
                <a:cs typeface="Arial"/>
              </a:rPr>
              <a:t>7.9.977%%</a:t>
            </a:r>
            <a:r>
              <a:rPr dirty="0" sz="700" spc="50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E1E6E9"/>
                </a:solidFill>
                <a:latin typeface="Arial"/>
                <a:cs typeface="Arial"/>
              </a:rPr>
              <a:t>New··</a:t>
            </a:r>
            <a:r>
              <a:rPr dirty="0" sz="700" spc="-10" b="1">
                <a:solidFill>
                  <a:srgbClr val="E1E6E9"/>
                </a:solidFill>
                <a:latin typeface="Arial"/>
                <a:cs typeface="Arial"/>
              </a:rPr>
              <a:t>2</a:t>
            </a:r>
            <a:r>
              <a:rPr dirty="0" sz="700" spc="-10">
                <a:solidFill>
                  <a:srgbClr val="E1E6E9"/>
                </a:solidFill>
                <a:latin typeface="Arial"/>
                <a:cs typeface="Arial"/>
              </a:rPr>
              <a:t>·..</a:t>
            </a:r>
            <a:r>
              <a:rPr dirty="0" sz="700" spc="-10" b="1">
                <a:solidFill>
                  <a:srgbClr val="E1E6E9"/>
                </a:solidFill>
                <a:latin typeface="Arial"/>
                <a:cs typeface="Arial"/>
              </a:rPr>
              <a:t>13%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700">
              <a:latin typeface="Arial"/>
              <a:cs typeface="Arial"/>
            </a:endParaRPr>
          </a:p>
          <a:p>
            <a:pPr algn="ctr" marL="1253490">
              <a:lnSpc>
                <a:spcPct val="100000"/>
              </a:lnSpc>
              <a:spcBef>
                <a:spcPts val="5"/>
              </a:spcBef>
            </a:pPr>
            <a:r>
              <a:rPr dirty="0" sz="650" spc="-10">
                <a:solidFill>
                  <a:srgbClr val="FFFFFF"/>
                </a:solidFill>
                <a:latin typeface="Arial"/>
                <a:cs typeface="Arial"/>
              </a:rPr>
              <a:t>79.9%</a:t>
            </a:r>
            <a:endParaRPr sz="6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611224" y="2502357"/>
            <a:ext cx="2853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5EFEF"/>
                </a:solidFill>
                <a:latin typeface="Arial"/>
                <a:cs typeface="Arial"/>
              </a:rPr>
              <a:t>Segment</a:t>
            </a:r>
            <a:r>
              <a:rPr dirty="0" sz="2400" spc="-110">
                <a:solidFill>
                  <a:srgbClr val="F5EFE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5EFEF"/>
                </a:solidFill>
                <a:latin typeface="Arial"/>
                <a:cs typeface="Arial"/>
              </a:rPr>
              <a:t>Breakdown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611224" y="3120796"/>
            <a:ext cx="6043930" cy="812800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The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vast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majority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of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customers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are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classified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as</a:t>
            </a:r>
            <a:r>
              <a:rPr dirty="0" sz="19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5F9DFF"/>
                </a:solidFill>
                <a:latin typeface="Arial"/>
                <a:cs typeface="Arial"/>
              </a:rPr>
              <a:t>Loyal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(3,116),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with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701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Returning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only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83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New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customers.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7623924" y="4600689"/>
            <a:ext cx="6150610" cy="2233295"/>
            <a:chOff x="7623924" y="4600689"/>
            <a:chExt cx="6150610" cy="2233295"/>
          </a:xfrm>
        </p:grpSpPr>
        <p:sp>
          <p:nvSpPr>
            <p:cNvPr id="18" name="object 18" descr=""/>
            <p:cNvSpPr/>
            <p:nvPr/>
          </p:nvSpPr>
          <p:spPr>
            <a:xfrm>
              <a:off x="7623924" y="4600689"/>
              <a:ext cx="6150610" cy="2233295"/>
            </a:xfrm>
            <a:custGeom>
              <a:avLst/>
              <a:gdLst/>
              <a:ahLst/>
              <a:cxnLst/>
              <a:rect l="l" t="t" r="r" b="b"/>
              <a:pathLst>
                <a:path w="6150609" h="2233295">
                  <a:moveTo>
                    <a:pt x="6046635" y="0"/>
                  </a:moveTo>
                  <a:lnTo>
                    <a:pt x="103661" y="0"/>
                  </a:lnTo>
                  <a:lnTo>
                    <a:pt x="63473" y="8200"/>
                  </a:lnTo>
                  <a:lnTo>
                    <a:pt x="30505" y="30506"/>
                  </a:lnTo>
                  <a:lnTo>
                    <a:pt x="8200" y="63474"/>
                  </a:lnTo>
                  <a:lnTo>
                    <a:pt x="0" y="103657"/>
                  </a:lnTo>
                  <a:lnTo>
                    <a:pt x="0" y="2129472"/>
                  </a:lnTo>
                  <a:lnTo>
                    <a:pt x="8200" y="2169661"/>
                  </a:lnTo>
                  <a:lnTo>
                    <a:pt x="30505" y="2202627"/>
                  </a:lnTo>
                  <a:lnTo>
                    <a:pt x="63473" y="2224930"/>
                  </a:lnTo>
                  <a:lnTo>
                    <a:pt x="103661" y="2233129"/>
                  </a:lnTo>
                  <a:lnTo>
                    <a:pt x="6046635" y="2233129"/>
                  </a:lnTo>
                  <a:lnTo>
                    <a:pt x="6086818" y="2224930"/>
                  </a:lnTo>
                  <a:lnTo>
                    <a:pt x="6119785" y="2202627"/>
                  </a:lnTo>
                  <a:lnTo>
                    <a:pt x="6142091" y="2169661"/>
                  </a:lnTo>
                  <a:lnTo>
                    <a:pt x="6150292" y="2129472"/>
                  </a:lnTo>
                  <a:lnTo>
                    <a:pt x="6150292" y="103657"/>
                  </a:lnTo>
                  <a:lnTo>
                    <a:pt x="6142091" y="63474"/>
                  </a:lnTo>
                  <a:lnTo>
                    <a:pt x="6119785" y="30506"/>
                  </a:lnTo>
                  <a:lnTo>
                    <a:pt x="6086818" y="8200"/>
                  </a:lnTo>
                  <a:lnTo>
                    <a:pt x="6046635" y="0"/>
                  </a:lnTo>
                  <a:close/>
                </a:path>
              </a:pathLst>
            </a:custGeom>
            <a:solidFill>
              <a:srgbClr val="02224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70749" y="4975148"/>
              <a:ext cx="308490" cy="246811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8413356" y="4891379"/>
            <a:ext cx="5089525" cy="1206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Customers</a:t>
            </a:r>
            <a:r>
              <a:rPr dirty="0" sz="19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9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dirty="0" sz="19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than</a:t>
            </a:r>
            <a:r>
              <a:rPr dirty="0" sz="19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dirty="0" sz="19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Arial"/>
                <a:cs typeface="Arial"/>
              </a:rPr>
              <a:t>purchases</a:t>
            </a:r>
            <a:r>
              <a:rPr dirty="0" sz="1900" spc="-1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900" spc="5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2,518</a:t>
            </a:r>
            <a:r>
              <a:rPr dirty="0" sz="19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Arial"/>
                <a:cs typeface="Arial"/>
              </a:rPr>
              <a:t>non-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subscribers</a:t>
            </a:r>
            <a:r>
              <a:rPr dirty="0" sz="19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vs.</a:t>
            </a:r>
            <a:r>
              <a:rPr dirty="0" sz="19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958</a:t>
            </a:r>
            <a:r>
              <a:rPr dirty="0" sz="19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subscribers</a:t>
            </a:r>
            <a:r>
              <a:rPr dirty="0" sz="19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50">
                <a:solidFill>
                  <a:srgbClr val="FFFFFF"/>
                </a:solidFill>
                <a:latin typeface="Arial"/>
                <a:cs typeface="Arial"/>
              </a:rPr>
              <a:t>—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indicating</a:t>
            </a:r>
            <a:r>
              <a:rPr dirty="0" sz="19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9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Arial"/>
                <a:cs typeface="Arial"/>
              </a:rPr>
              <a:t>loyalty-</a:t>
            </a:r>
            <a:r>
              <a:rPr dirty="0" sz="1900" spc="-10">
                <a:solidFill>
                  <a:srgbClr val="FFFFFF"/>
                </a:solidFill>
                <a:latin typeface="Arial"/>
                <a:cs typeface="Arial"/>
              </a:rPr>
              <a:t>subscription</a:t>
            </a:r>
            <a:r>
              <a:rPr dirty="0" sz="19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gap</a:t>
            </a:r>
            <a:r>
              <a:rPr dirty="0" sz="19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9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Arial"/>
                <a:cs typeface="Arial"/>
              </a:rPr>
              <a:t>address.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4189" y="752392"/>
            <a:ext cx="10273665" cy="741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59479" algn="l"/>
                <a:tab pos="4023360" algn="l"/>
                <a:tab pos="6577965" algn="l"/>
                <a:tab pos="7374255" algn="l"/>
                <a:tab pos="8601710" algn="l"/>
              </a:tabLst>
            </a:pPr>
            <a:r>
              <a:rPr dirty="0" sz="4700" spc="-10"/>
              <a:t>Subscription</a:t>
            </a:r>
            <a:r>
              <a:rPr dirty="0" sz="4700"/>
              <a:t>	</a:t>
            </a:r>
            <a:r>
              <a:rPr dirty="0" sz="4700" spc="-50"/>
              <a:t>&amp;</a:t>
            </a:r>
            <a:r>
              <a:rPr dirty="0" sz="4700"/>
              <a:t>	</a:t>
            </a:r>
            <a:r>
              <a:rPr dirty="0" sz="4700" spc="-10"/>
              <a:t>Revenue</a:t>
            </a:r>
            <a:r>
              <a:rPr dirty="0" sz="4700"/>
              <a:t>	</a:t>
            </a:r>
            <a:r>
              <a:rPr dirty="0" sz="4700" spc="-25"/>
              <a:t>by</a:t>
            </a:r>
            <a:r>
              <a:rPr dirty="0" sz="4700"/>
              <a:t>	</a:t>
            </a:r>
            <a:r>
              <a:rPr dirty="0" sz="4700" spc="-25"/>
              <a:t>Age</a:t>
            </a:r>
            <a:r>
              <a:rPr dirty="0" sz="4700"/>
              <a:t>	</a:t>
            </a:r>
            <a:r>
              <a:rPr dirty="0" sz="4700" spc="-10"/>
              <a:t>Group</a:t>
            </a:r>
            <a:endParaRPr sz="47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889" y="2106218"/>
            <a:ext cx="6186601" cy="3893223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340"/>
              </a:spcBef>
            </a:pPr>
          </a:p>
          <a:p>
            <a:pPr marL="5589270">
              <a:lnSpc>
                <a:spcPts val="715"/>
              </a:lnSpc>
            </a:pPr>
            <a:r>
              <a:rPr dirty="0" spc="-20"/>
              <a:t>62.1</a:t>
            </a:r>
          </a:p>
          <a:p>
            <a:pPr marL="5589270">
              <a:lnSpc>
                <a:spcPts val="715"/>
              </a:lnSpc>
            </a:pPr>
            <a:r>
              <a:rPr dirty="0" spc="-50"/>
              <a:t>k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180"/>
              </a:spcBef>
            </a:pPr>
          </a:p>
          <a:p>
            <a:pPr marL="5333365">
              <a:lnSpc>
                <a:spcPts val="715"/>
              </a:lnSpc>
            </a:pPr>
            <a:r>
              <a:rPr dirty="0" spc="-20">
                <a:solidFill>
                  <a:srgbClr val="000000"/>
                </a:solidFill>
              </a:rPr>
              <a:t>59.2</a:t>
            </a:r>
          </a:p>
          <a:p>
            <a:pPr marL="5333365">
              <a:lnSpc>
                <a:spcPts val="715"/>
              </a:lnSpc>
            </a:pPr>
            <a:r>
              <a:rPr dirty="0" spc="-50">
                <a:solidFill>
                  <a:srgbClr val="000000"/>
                </a:solidFill>
              </a:rPr>
              <a:t>k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175"/>
              </a:spcBef>
            </a:pPr>
          </a:p>
          <a:p>
            <a:pPr marL="5137785">
              <a:lnSpc>
                <a:spcPts val="715"/>
              </a:lnSpc>
            </a:pPr>
            <a:r>
              <a:rPr dirty="0" spc="-25">
                <a:solidFill>
                  <a:srgbClr val="000000"/>
                </a:solidFill>
              </a:rPr>
              <a:t>56</a:t>
            </a:r>
          </a:p>
          <a:p>
            <a:pPr marL="5137785">
              <a:lnSpc>
                <a:spcPts val="715"/>
              </a:lnSpc>
            </a:pPr>
            <a:r>
              <a:rPr dirty="0" spc="-50">
                <a:solidFill>
                  <a:srgbClr val="000000"/>
                </a:solidFill>
              </a:rPr>
              <a:t>k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180"/>
              </a:spcBef>
            </a:pPr>
          </a:p>
          <a:p>
            <a:pPr marL="5048885">
              <a:lnSpc>
                <a:spcPts val="715"/>
              </a:lnSpc>
            </a:pPr>
            <a:r>
              <a:rPr dirty="0" spc="-20">
                <a:solidFill>
                  <a:srgbClr val="000000"/>
                </a:solidFill>
              </a:rPr>
              <a:t>55.8</a:t>
            </a:r>
          </a:p>
          <a:p>
            <a:pPr marL="5048885">
              <a:lnSpc>
                <a:spcPts val="715"/>
              </a:lnSpc>
            </a:pPr>
            <a:r>
              <a:rPr dirty="0" spc="-50">
                <a:solidFill>
                  <a:srgbClr val="000000"/>
                </a:solidFill>
              </a:rPr>
              <a:t>k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7601825" y="2068436"/>
            <a:ext cx="2595245" cy="383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>
                <a:solidFill>
                  <a:srgbClr val="F5EFEF"/>
                </a:solidFill>
                <a:latin typeface="Arial"/>
                <a:cs typeface="Arial"/>
              </a:rPr>
              <a:t>Subscription</a:t>
            </a:r>
            <a:r>
              <a:rPr dirty="0" sz="2350" spc="-160">
                <a:solidFill>
                  <a:srgbClr val="F5EFEF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F5EFEF"/>
                </a:solidFill>
                <a:latin typeface="Arial"/>
                <a:cs typeface="Arial"/>
              </a:rPr>
              <a:t>Status</a:t>
            </a:r>
            <a:endParaRPr sz="235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7614525" y="2711284"/>
            <a:ext cx="6186805" cy="3545204"/>
          </a:xfrm>
          <a:custGeom>
            <a:avLst/>
            <a:gdLst/>
            <a:ahLst/>
            <a:cxnLst/>
            <a:rect l="l" t="t" r="r" b="b"/>
            <a:pathLst>
              <a:path w="6186805" h="3545204">
                <a:moveTo>
                  <a:pt x="0" y="100431"/>
                </a:moveTo>
                <a:lnTo>
                  <a:pt x="7944" y="61496"/>
                </a:lnTo>
                <a:lnTo>
                  <a:pt x="29556" y="29556"/>
                </a:lnTo>
                <a:lnTo>
                  <a:pt x="61498" y="7945"/>
                </a:lnTo>
                <a:lnTo>
                  <a:pt x="100435" y="0"/>
                </a:lnTo>
                <a:lnTo>
                  <a:pt x="6086170" y="0"/>
                </a:lnTo>
                <a:lnTo>
                  <a:pt x="6125104" y="7945"/>
                </a:lnTo>
                <a:lnTo>
                  <a:pt x="6157045" y="29556"/>
                </a:lnTo>
                <a:lnTo>
                  <a:pt x="6178656" y="61496"/>
                </a:lnTo>
                <a:lnTo>
                  <a:pt x="6186601" y="100431"/>
                </a:lnTo>
                <a:lnTo>
                  <a:pt x="6186601" y="3444773"/>
                </a:lnTo>
                <a:lnTo>
                  <a:pt x="6178656" y="3483708"/>
                </a:lnTo>
                <a:lnTo>
                  <a:pt x="6157045" y="3515648"/>
                </a:lnTo>
                <a:lnTo>
                  <a:pt x="6125104" y="3537259"/>
                </a:lnTo>
                <a:lnTo>
                  <a:pt x="6086170" y="3545204"/>
                </a:lnTo>
                <a:lnTo>
                  <a:pt x="100435" y="3545204"/>
                </a:lnTo>
                <a:lnTo>
                  <a:pt x="61498" y="3537259"/>
                </a:lnTo>
                <a:lnTo>
                  <a:pt x="29556" y="3515648"/>
                </a:lnTo>
                <a:lnTo>
                  <a:pt x="7944" y="3483708"/>
                </a:lnTo>
                <a:lnTo>
                  <a:pt x="0" y="3444773"/>
                </a:lnTo>
                <a:lnTo>
                  <a:pt x="0" y="100431"/>
                </a:lnTo>
                <a:close/>
              </a:path>
            </a:pathLst>
          </a:custGeom>
          <a:ln w="76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7848637" y="2940519"/>
            <a:ext cx="742950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10" b="1">
                <a:solidFill>
                  <a:srgbClr val="E1E6E9"/>
                </a:solidFill>
                <a:latin typeface="Arial"/>
                <a:cs typeface="Arial"/>
              </a:rPr>
              <a:t>Status</a:t>
            </a:r>
            <a:endParaRPr sz="18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395256" y="2847809"/>
            <a:ext cx="1029969" cy="774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900"/>
              </a:lnSpc>
              <a:spcBef>
                <a:spcPts val="100"/>
              </a:spcBef>
            </a:pPr>
            <a:r>
              <a:rPr dirty="0" sz="1850" spc="-10" b="1">
                <a:solidFill>
                  <a:srgbClr val="E1E6E9"/>
                </a:solidFill>
                <a:latin typeface="Arial"/>
                <a:cs typeface="Arial"/>
              </a:rPr>
              <a:t>Custome </a:t>
            </a:r>
            <a:r>
              <a:rPr dirty="0" sz="1850" spc="-25" b="1">
                <a:solidFill>
                  <a:srgbClr val="E1E6E9"/>
                </a:solidFill>
                <a:latin typeface="Arial"/>
                <a:cs typeface="Arial"/>
              </a:rPr>
              <a:t>rs</a:t>
            </a:r>
            <a:endParaRPr sz="18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938078" y="2847809"/>
            <a:ext cx="743585" cy="774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900"/>
              </a:lnSpc>
              <a:spcBef>
                <a:spcPts val="100"/>
              </a:spcBef>
            </a:pPr>
            <a:r>
              <a:rPr dirty="0" sz="1850" spc="-20" b="1">
                <a:solidFill>
                  <a:srgbClr val="E1E6E9"/>
                </a:solidFill>
                <a:latin typeface="Arial"/>
                <a:cs typeface="Arial"/>
              </a:rPr>
              <a:t>Avg. </a:t>
            </a:r>
            <a:r>
              <a:rPr dirty="0" sz="1850" spc="-10" b="1">
                <a:solidFill>
                  <a:srgbClr val="E1E6E9"/>
                </a:solidFill>
                <a:latin typeface="Arial"/>
                <a:cs typeface="Arial"/>
              </a:rPr>
              <a:t>Spend</a:t>
            </a:r>
            <a:endParaRPr sz="18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480887" y="2847809"/>
            <a:ext cx="1004569" cy="774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900"/>
              </a:lnSpc>
              <a:spcBef>
                <a:spcPts val="100"/>
              </a:spcBef>
            </a:pPr>
            <a:r>
              <a:rPr dirty="0" sz="1850" spc="-10" b="1">
                <a:solidFill>
                  <a:srgbClr val="E1E6E9"/>
                </a:solidFill>
                <a:latin typeface="Arial"/>
                <a:cs typeface="Arial"/>
              </a:rPr>
              <a:t>Total Revenue</a:t>
            </a:r>
            <a:endParaRPr sz="18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848637" y="3901516"/>
            <a:ext cx="1069975" cy="774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900"/>
              </a:lnSpc>
              <a:spcBef>
                <a:spcPts val="100"/>
              </a:spcBef>
            </a:pPr>
            <a:r>
              <a:rPr dirty="0" sz="1850" spc="-10">
                <a:solidFill>
                  <a:srgbClr val="E1E6E9"/>
                </a:solidFill>
                <a:latin typeface="Arial"/>
                <a:cs typeface="Arial"/>
              </a:rPr>
              <a:t>Subscribe </a:t>
            </a:r>
            <a:r>
              <a:rPr dirty="0" sz="1850" spc="-25">
                <a:solidFill>
                  <a:srgbClr val="E1E6E9"/>
                </a:solidFill>
                <a:latin typeface="Arial"/>
                <a:cs typeface="Arial"/>
              </a:rPr>
              <a:t>rs</a:t>
            </a:r>
            <a:endParaRPr sz="18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395256" y="3994226"/>
            <a:ext cx="613410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10">
                <a:solidFill>
                  <a:srgbClr val="E1E6E9"/>
                </a:solidFill>
                <a:latin typeface="Arial"/>
                <a:cs typeface="Arial"/>
              </a:rPr>
              <a:t>1,053</a:t>
            </a:r>
            <a:endParaRPr sz="18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938078" y="3994226"/>
            <a:ext cx="74358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10">
                <a:solidFill>
                  <a:srgbClr val="E1E6E9"/>
                </a:solidFill>
                <a:latin typeface="Arial"/>
                <a:cs typeface="Arial"/>
              </a:rPr>
              <a:t>$59.49</a:t>
            </a:r>
            <a:endParaRPr sz="18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480887" y="3994226"/>
            <a:ext cx="874394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10">
                <a:solidFill>
                  <a:srgbClr val="E1E6E9"/>
                </a:solidFill>
                <a:latin typeface="Arial"/>
                <a:cs typeface="Arial"/>
              </a:rPr>
              <a:t>$62,645</a:t>
            </a:r>
            <a:endParaRPr sz="18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848637" y="4955222"/>
            <a:ext cx="1069975" cy="1149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900"/>
              </a:lnSpc>
              <a:spcBef>
                <a:spcPts val="100"/>
              </a:spcBef>
            </a:pPr>
            <a:r>
              <a:rPr dirty="0" sz="1850" spc="-20">
                <a:solidFill>
                  <a:srgbClr val="E1E6E9"/>
                </a:solidFill>
                <a:latin typeface="Arial"/>
                <a:cs typeface="Arial"/>
              </a:rPr>
              <a:t>Non- </a:t>
            </a:r>
            <a:r>
              <a:rPr dirty="0" sz="1850" spc="-10">
                <a:solidFill>
                  <a:srgbClr val="E1E6E9"/>
                </a:solidFill>
                <a:latin typeface="Arial"/>
                <a:cs typeface="Arial"/>
              </a:rPr>
              <a:t>Subscribe </a:t>
            </a:r>
            <a:r>
              <a:rPr dirty="0" sz="1850" spc="-25">
                <a:solidFill>
                  <a:srgbClr val="E1E6E9"/>
                </a:solidFill>
                <a:latin typeface="Arial"/>
                <a:cs typeface="Arial"/>
              </a:rPr>
              <a:t>rs</a:t>
            </a:r>
            <a:endParaRPr sz="18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395256" y="5047932"/>
            <a:ext cx="613410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10">
                <a:solidFill>
                  <a:srgbClr val="E1E6E9"/>
                </a:solidFill>
                <a:latin typeface="Arial"/>
                <a:cs typeface="Arial"/>
              </a:rPr>
              <a:t>2,847</a:t>
            </a:r>
            <a:endParaRPr sz="18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938078" y="5047932"/>
            <a:ext cx="74358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10">
                <a:solidFill>
                  <a:srgbClr val="E1E6E9"/>
                </a:solidFill>
                <a:latin typeface="Arial"/>
                <a:cs typeface="Arial"/>
              </a:rPr>
              <a:t>$59.87</a:t>
            </a:r>
            <a:endParaRPr sz="18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2480887" y="5047932"/>
            <a:ext cx="1004569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10">
                <a:solidFill>
                  <a:srgbClr val="E1E6E9"/>
                </a:solidFill>
                <a:latin typeface="Arial"/>
                <a:cs typeface="Arial"/>
              </a:rPr>
              <a:t>$170,436</a:t>
            </a:r>
            <a:endParaRPr sz="18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601817" y="6499339"/>
            <a:ext cx="5563235" cy="774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900"/>
              </a:lnSpc>
              <a:spcBef>
                <a:spcPts val="100"/>
              </a:spcBef>
            </a:pPr>
            <a:r>
              <a:rPr dirty="0" sz="1850">
                <a:solidFill>
                  <a:srgbClr val="E1E6E9"/>
                </a:solidFill>
                <a:latin typeface="Arial"/>
                <a:cs typeface="Arial"/>
              </a:rPr>
              <a:t>Young</a:t>
            </a:r>
            <a:r>
              <a:rPr dirty="0" sz="18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E1E6E9"/>
                </a:solidFill>
                <a:latin typeface="Arial"/>
                <a:cs typeface="Arial"/>
              </a:rPr>
              <a:t>Adults</a:t>
            </a:r>
            <a:r>
              <a:rPr dirty="0" sz="18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E1E6E9"/>
                </a:solidFill>
                <a:latin typeface="Arial"/>
                <a:cs typeface="Arial"/>
              </a:rPr>
              <a:t>lead</a:t>
            </a:r>
            <a:r>
              <a:rPr dirty="0" sz="18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E1E6E9"/>
                </a:solidFill>
                <a:latin typeface="Arial"/>
                <a:cs typeface="Arial"/>
              </a:rPr>
              <a:t>revenue</a:t>
            </a:r>
            <a:r>
              <a:rPr dirty="0" sz="18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E1E6E9"/>
                </a:solidFill>
                <a:latin typeface="Arial"/>
                <a:cs typeface="Arial"/>
              </a:rPr>
              <a:t>at</a:t>
            </a:r>
            <a:r>
              <a:rPr dirty="0" sz="18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E1E6E9"/>
                </a:solidFill>
                <a:latin typeface="Arial"/>
                <a:cs typeface="Arial"/>
              </a:rPr>
              <a:t>$62,143</a:t>
            </a:r>
            <a:r>
              <a:rPr dirty="0" sz="1850">
                <a:solidFill>
                  <a:srgbClr val="E1E6E9"/>
                </a:solidFill>
                <a:latin typeface="Arial"/>
                <a:cs typeface="Arial"/>
              </a:rPr>
              <a:t>.</a:t>
            </a:r>
            <a:r>
              <a:rPr dirty="0" sz="18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E1E6E9"/>
                </a:solidFill>
                <a:latin typeface="Arial"/>
                <a:cs typeface="Arial"/>
              </a:rPr>
              <a:t>Avg.</a:t>
            </a:r>
            <a:r>
              <a:rPr dirty="0" sz="18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E1E6E9"/>
                </a:solidFill>
                <a:latin typeface="Arial"/>
                <a:cs typeface="Arial"/>
              </a:rPr>
              <a:t>spend</a:t>
            </a:r>
            <a:r>
              <a:rPr dirty="0" sz="18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50" spc="-25">
                <a:solidFill>
                  <a:srgbClr val="E1E6E9"/>
                </a:solidFill>
                <a:latin typeface="Arial"/>
                <a:cs typeface="Arial"/>
              </a:rPr>
              <a:t>is </a:t>
            </a:r>
            <a:r>
              <a:rPr dirty="0" sz="1850">
                <a:solidFill>
                  <a:srgbClr val="E1E6E9"/>
                </a:solidFill>
                <a:latin typeface="Arial"/>
                <a:cs typeface="Arial"/>
              </a:rPr>
              <a:t>nearly</a:t>
            </a:r>
            <a:r>
              <a:rPr dirty="0" sz="185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E1E6E9"/>
                </a:solidFill>
                <a:latin typeface="Arial"/>
                <a:cs typeface="Arial"/>
              </a:rPr>
              <a:t>identical</a:t>
            </a:r>
            <a:r>
              <a:rPr dirty="0" sz="18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E1E6E9"/>
                </a:solidFill>
                <a:latin typeface="Arial"/>
                <a:cs typeface="Arial"/>
              </a:rPr>
              <a:t>across</a:t>
            </a:r>
            <a:r>
              <a:rPr dirty="0" sz="18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E1E6E9"/>
                </a:solidFill>
                <a:latin typeface="Arial"/>
                <a:cs typeface="Arial"/>
              </a:rPr>
              <a:t>subscription</a:t>
            </a:r>
            <a:r>
              <a:rPr dirty="0" sz="18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E1E6E9"/>
                </a:solidFill>
                <a:latin typeface="Arial"/>
                <a:cs typeface="Arial"/>
              </a:rPr>
              <a:t>groups.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098" y="947646"/>
            <a:ext cx="7177405" cy="7645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44600" algn="l"/>
                <a:tab pos="3844290" algn="l"/>
                <a:tab pos="4665980" algn="l"/>
              </a:tabLst>
            </a:pPr>
            <a:r>
              <a:rPr dirty="0" spc="-25"/>
              <a:t>Top</a:t>
            </a:r>
            <a:r>
              <a:rPr dirty="0"/>
              <a:t>	</a:t>
            </a:r>
            <a:r>
              <a:rPr dirty="0" spc="-10"/>
              <a:t>Products</a:t>
            </a:r>
            <a:r>
              <a:rPr dirty="0"/>
              <a:t>	</a:t>
            </a:r>
            <a:r>
              <a:rPr dirty="0" spc="-25"/>
              <a:t>by</a:t>
            </a:r>
            <a:r>
              <a:rPr dirty="0"/>
              <a:t>	</a:t>
            </a:r>
            <a:r>
              <a:rPr dirty="0" spc="-10"/>
              <a:t>Category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56178" y="2201468"/>
            <a:ext cx="6343650" cy="2430145"/>
            <a:chOff x="856178" y="2201468"/>
            <a:chExt cx="6343650" cy="2430145"/>
          </a:xfrm>
        </p:grpSpPr>
        <p:sp>
          <p:nvSpPr>
            <p:cNvPr id="4" name="object 4" descr=""/>
            <p:cNvSpPr/>
            <p:nvPr/>
          </p:nvSpPr>
          <p:spPr>
            <a:xfrm>
              <a:off x="863798" y="2209088"/>
              <a:ext cx="6328410" cy="2414905"/>
            </a:xfrm>
            <a:custGeom>
              <a:avLst/>
              <a:gdLst/>
              <a:ahLst/>
              <a:cxnLst/>
              <a:rect l="l" t="t" r="r" b="b"/>
              <a:pathLst>
                <a:path w="6328409" h="2414904">
                  <a:moveTo>
                    <a:pt x="6224270" y="0"/>
                  </a:moveTo>
                  <a:lnTo>
                    <a:pt x="103663" y="0"/>
                  </a:lnTo>
                  <a:lnTo>
                    <a:pt x="63474" y="8200"/>
                  </a:lnTo>
                  <a:lnTo>
                    <a:pt x="30506" y="30506"/>
                  </a:lnTo>
                  <a:lnTo>
                    <a:pt x="8200" y="63474"/>
                  </a:lnTo>
                  <a:lnTo>
                    <a:pt x="0" y="103657"/>
                  </a:lnTo>
                  <a:lnTo>
                    <a:pt x="0" y="2311044"/>
                  </a:lnTo>
                  <a:lnTo>
                    <a:pt x="8200" y="2351233"/>
                  </a:lnTo>
                  <a:lnTo>
                    <a:pt x="30506" y="2384199"/>
                  </a:lnTo>
                  <a:lnTo>
                    <a:pt x="63474" y="2406502"/>
                  </a:lnTo>
                  <a:lnTo>
                    <a:pt x="103663" y="2414701"/>
                  </a:lnTo>
                  <a:lnTo>
                    <a:pt x="6224270" y="2414701"/>
                  </a:lnTo>
                  <a:lnTo>
                    <a:pt x="6264460" y="2406502"/>
                  </a:lnTo>
                  <a:lnTo>
                    <a:pt x="6297431" y="2384199"/>
                  </a:lnTo>
                  <a:lnTo>
                    <a:pt x="6319739" y="2351233"/>
                  </a:lnTo>
                  <a:lnTo>
                    <a:pt x="6327940" y="2311044"/>
                  </a:lnTo>
                  <a:lnTo>
                    <a:pt x="6327940" y="103657"/>
                  </a:lnTo>
                  <a:lnTo>
                    <a:pt x="6319739" y="63474"/>
                  </a:lnTo>
                  <a:lnTo>
                    <a:pt x="6297431" y="30506"/>
                  </a:lnTo>
                  <a:lnTo>
                    <a:pt x="6264460" y="8200"/>
                  </a:lnTo>
                  <a:lnTo>
                    <a:pt x="6224270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63798" y="2209088"/>
              <a:ext cx="6328410" cy="2414905"/>
            </a:xfrm>
            <a:custGeom>
              <a:avLst/>
              <a:gdLst/>
              <a:ahLst/>
              <a:cxnLst/>
              <a:rect l="l" t="t" r="r" b="b"/>
              <a:pathLst>
                <a:path w="6328409" h="2414904">
                  <a:moveTo>
                    <a:pt x="0" y="103657"/>
                  </a:moveTo>
                  <a:lnTo>
                    <a:pt x="8200" y="63474"/>
                  </a:lnTo>
                  <a:lnTo>
                    <a:pt x="30506" y="30506"/>
                  </a:lnTo>
                  <a:lnTo>
                    <a:pt x="63474" y="8200"/>
                  </a:lnTo>
                  <a:lnTo>
                    <a:pt x="103663" y="0"/>
                  </a:lnTo>
                  <a:lnTo>
                    <a:pt x="6224270" y="0"/>
                  </a:lnTo>
                  <a:lnTo>
                    <a:pt x="6264460" y="8200"/>
                  </a:lnTo>
                  <a:lnTo>
                    <a:pt x="6297431" y="30506"/>
                  </a:lnTo>
                  <a:lnTo>
                    <a:pt x="6319739" y="63474"/>
                  </a:lnTo>
                  <a:lnTo>
                    <a:pt x="6327940" y="103657"/>
                  </a:lnTo>
                  <a:lnTo>
                    <a:pt x="6327940" y="2311044"/>
                  </a:lnTo>
                  <a:lnTo>
                    <a:pt x="6319739" y="2351233"/>
                  </a:lnTo>
                  <a:lnTo>
                    <a:pt x="6297431" y="2384199"/>
                  </a:lnTo>
                  <a:lnTo>
                    <a:pt x="6264460" y="2406502"/>
                  </a:lnTo>
                  <a:lnTo>
                    <a:pt x="6224270" y="2414701"/>
                  </a:lnTo>
                  <a:lnTo>
                    <a:pt x="103663" y="2414701"/>
                  </a:lnTo>
                  <a:lnTo>
                    <a:pt x="63474" y="2406502"/>
                  </a:lnTo>
                  <a:lnTo>
                    <a:pt x="30506" y="2384199"/>
                  </a:lnTo>
                  <a:lnTo>
                    <a:pt x="8200" y="2351233"/>
                  </a:lnTo>
                  <a:lnTo>
                    <a:pt x="0" y="2311044"/>
                  </a:lnTo>
                  <a:lnTo>
                    <a:pt x="0" y="103657"/>
                  </a:lnTo>
                  <a:close/>
                </a:path>
              </a:pathLst>
            </a:custGeom>
            <a:ln w="1523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113155" y="2455951"/>
            <a:ext cx="1884045" cy="173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620">
                <a:latin typeface="Segoe UI Symbol"/>
                <a:cs typeface="Segoe UI Symbol"/>
              </a:rPr>
              <a:t>👗</a:t>
            </a:r>
            <a:r>
              <a:rPr dirty="0" sz="2400" spc="5">
                <a:latin typeface="Segoe UI Symbol"/>
                <a:cs typeface="Segoe UI Symbol"/>
              </a:rPr>
              <a:t> </a:t>
            </a:r>
            <a:r>
              <a:rPr dirty="0" sz="2400" spc="-10">
                <a:solidFill>
                  <a:srgbClr val="E1E6E9"/>
                </a:solidFill>
                <a:latin typeface="Arial"/>
                <a:cs typeface="Arial"/>
              </a:rPr>
              <a:t>Clothing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120"/>
              </a:spcBef>
              <a:buAutoNum type="arabicPeriod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Blouse</a:t>
            </a:r>
            <a:r>
              <a:rPr dirty="0" sz="19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9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171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19"/>
              </a:spcBef>
              <a:buAutoNum type="arabicPeriod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Pants</a:t>
            </a:r>
            <a:r>
              <a:rPr dirty="0" sz="19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9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171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19"/>
              </a:spcBef>
              <a:buAutoNum type="arabicPeriod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Shirt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9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169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430934" y="2201468"/>
            <a:ext cx="6343650" cy="2430145"/>
            <a:chOff x="7430934" y="2201468"/>
            <a:chExt cx="6343650" cy="2430145"/>
          </a:xfrm>
        </p:grpSpPr>
        <p:sp>
          <p:nvSpPr>
            <p:cNvPr id="8" name="object 8" descr=""/>
            <p:cNvSpPr/>
            <p:nvPr/>
          </p:nvSpPr>
          <p:spPr>
            <a:xfrm>
              <a:off x="7438554" y="2209088"/>
              <a:ext cx="6328410" cy="2414905"/>
            </a:xfrm>
            <a:custGeom>
              <a:avLst/>
              <a:gdLst/>
              <a:ahLst/>
              <a:cxnLst/>
              <a:rect l="l" t="t" r="r" b="b"/>
              <a:pathLst>
                <a:path w="6328409" h="2414904">
                  <a:moveTo>
                    <a:pt x="6224384" y="0"/>
                  </a:moveTo>
                  <a:lnTo>
                    <a:pt x="103663" y="0"/>
                  </a:lnTo>
                  <a:lnTo>
                    <a:pt x="63474" y="8200"/>
                  </a:lnTo>
                  <a:lnTo>
                    <a:pt x="30506" y="30506"/>
                  </a:lnTo>
                  <a:lnTo>
                    <a:pt x="8200" y="63474"/>
                  </a:lnTo>
                  <a:lnTo>
                    <a:pt x="0" y="103657"/>
                  </a:lnTo>
                  <a:lnTo>
                    <a:pt x="0" y="2311044"/>
                  </a:lnTo>
                  <a:lnTo>
                    <a:pt x="8200" y="2351233"/>
                  </a:lnTo>
                  <a:lnTo>
                    <a:pt x="30506" y="2384199"/>
                  </a:lnTo>
                  <a:lnTo>
                    <a:pt x="63474" y="2406502"/>
                  </a:lnTo>
                  <a:lnTo>
                    <a:pt x="103663" y="2414701"/>
                  </a:lnTo>
                  <a:lnTo>
                    <a:pt x="6224384" y="2414701"/>
                  </a:lnTo>
                  <a:lnTo>
                    <a:pt x="6264575" y="2406502"/>
                  </a:lnTo>
                  <a:lnTo>
                    <a:pt x="6297545" y="2384199"/>
                  </a:lnTo>
                  <a:lnTo>
                    <a:pt x="6319853" y="2351233"/>
                  </a:lnTo>
                  <a:lnTo>
                    <a:pt x="6328054" y="2311044"/>
                  </a:lnTo>
                  <a:lnTo>
                    <a:pt x="6328054" y="103657"/>
                  </a:lnTo>
                  <a:lnTo>
                    <a:pt x="6319853" y="63474"/>
                  </a:lnTo>
                  <a:lnTo>
                    <a:pt x="6297545" y="30506"/>
                  </a:lnTo>
                  <a:lnTo>
                    <a:pt x="6264575" y="8200"/>
                  </a:lnTo>
                  <a:lnTo>
                    <a:pt x="6224384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438554" y="2209088"/>
              <a:ext cx="6328410" cy="2414905"/>
            </a:xfrm>
            <a:custGeom>
              <a:avLst/>
              <a:gdLst/>
              <a:ahLst/>
              <a:cxnLst/>
              <a:rect l="l" t="t" r="r" b="b"/>
              <a:pathLst>
                <a:path w="6328409" h="2414904">
                  <a:moveTo>
                    <a:pt x="0" y="103657"/>
                  </a:moveTo>
                  <a:lnTo>
                    <a:pt x="8200" y="63474"/>
                  </a:lnTo>
                  <a:lnTo>
                    <a:pt x="30506" y="30506"/>
                  </a:lnTo>
                  <a:lnTo>
                    <a:pt x="63474" y="8200"/>
                  </a:lnTo>
                  <a:lnTo>
                    <a:pt x="103663" y="0"/>
                  </a:lnTo>
                  <a:lnTo>
                    <a:pt x="6224384" y="0"/>
                  </a:lnTo>
                  <a:lnTo>
                    <a:pt x="6264575" y="8200"/>
                  </a:lnTo>
                  <a:lnTo>
                    <a:pt x="6297545" y="30506"/>
                  </a:lnTo>
                  <a:lnTo>
                    <a:pt x="6319853" y="63474"/>
                  </a:lnTo>
                  <a:lnTo>
                    <a:pt x="6328054" y="103657"/>
                  </a:lnTo>
                  <a:lnTo>
                    <a:pt x="6328054" y="2311044"/>
                  </a:lnTo>
                  <a:lnTo>
                    <a:pt x="6319853" y="2351233"/>
                  </a:lnTo>
                  <a:lnTo>
                    <a:pt x="6297545" y="2384199"/>
                  </a:lnTo>
                  <a:lnTo>
                    <a:pt x="6264575" y="2406502"/>
                  </a:lnTo>
                  <a:lnTo>
                    <a:pt x="6224384" y="2414701"/>
                  </a:lnTo>
                  <a:lnTo>
                    <a:pt x="103663" y="2414701"/>
                  </a:lnTo>
                  <a:lnTo>
                    <a:pt x="63474" y="2406502"/>
                  </a:lnTo>
                  <a:lnTo>
                    <a:pt x="30506" y="2384199"/>
                  </a:lnTo>
                  <a:lnTo>
                    <a:pt x="8200" y="2351233"/>
                  </a:lnTo>
                  <a:lnTo>
                    <a:pt x="0" y="2311044"/>
                  </a:lnTo>
                  <a:lnTo>
                    <a:pt x="0" y="103657"/>
                  </a:lnTo>
                  <a:close/>
                </a:path>
              </a:pathLst>
            </a:custGeom>
            <a:ln w="1523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7687906" y="2455951"/>
            <a:ext cx="2393950" cy="173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620">
                <a:latin typeface="Segoe UI Symbol"/>
                <a:cs typeface="Segoe UI Symbol"/>
              </a:rPr>
              <a:t>💍</a:t>
            </a:r>
            <a:r>
              <a:rPr dirty="0" sz="2400" spc="5">
                <a:latin typeface="Segoe UI Symbol"/>
                <a:cs typeface="Segoe UI Symbol"/>
              </a:rPr>
              <a:t> </a:t>
            </a:r>
            <a:r>
              <a:rPr dirty="0" sz="2400" spc="-10">
                <a:solidFill>
                  <a:srgbClr val="E1E6E9"/>
                </a:solidFill>
                <a:latin typeface="Arial"/>
                <a:cs typeface="Arial"/>
              </a:rPr>
              <a:t>Accessories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120"/>
              </a:spcBef>
              <a:buAutoNum type="arabicPeriod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Jewelry</a:t>
            </a:r>
            <a:r>
              <a:rPr dirty="0" sz="19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9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171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19"/>
              </a:spcBef>
              <a:buAutoNum type="arabicPeriod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Sunglasses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161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19"/>
              </a:spcBef>
              <a:buAutoNum type="arabicPeriod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Belt</a:t>
            </a:r>
            <a:r>
              <a:rPr dirty="0" sz="19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9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161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856178" y="4862995"/>
            <a:ext cx="6343650" cy="2430145"/>
            <a:chOff x="856178" y="4862995"/>
            <a:chExt cx="6343650" cy="2430145"/>
          </a:xfrm>
        </p:grpSpPr>
        <p:sp>
          <p:nvSpPr>
            <p:cNvPr id="12" name="object 12" descr=""/>
            <p:cNvSpPr/>
            <p:nvPr/>
          </p:nvSpPr>
          <p:spPr>
            <a:xfrm>
              <a:off x="863798" y="4870614"/>
              <a:ext cx="6328410" cy="2414905"/>
            </a:xfrm>
            <a:custGeom>
              <a:avLst/>
              <a:gdLst/>
              <a:ahLst/>
              <a:cxnLst/>
              <a:rect l="l" t="t" r="r" b="b"/>
              <a:pathLst>
                <a:path w="6328409" h="2414904">
                  <a:moveTo>
                    <a:pt x="6224270" y="0"/>
                  </a:moveTo>
                  <a:lnTo>
                    <a:pt x="103663" y="0"/>
                  </a:lnTo>
                  <a:lnTo>
                    <a:pt x="63474" y="8200"/>
                  </a:lnTo>
                  <a:lnTo>
                    <a:pt x="30506" y="30506"/>
                  </a:lnTo>
                  <a:lnTo>
                    <a:pt x="8200" y="63474"/>
                  </a:lnTo>
                  <a:lnTo>
                    <a:pt x="0" y="103657"/>
                  </a:lnTo>
                  <a:lnTo>
                    <a:pt x="0" y="2311044"/>
                  </a:lnTo>
                  <a:lnTo>
                    <a:pt x="8200" y="2351233"/>
                  </a:lnTo>
                  <a:lnTo>
                    <a:pt x="30506" y="2384199"/>
                  </a:lnTo>
                  <a:lnTo>
                    <a:pt x="63474" y="2406502"/>
                  </a:lnTo>
                  <a:lnTo>
                    <a:pt x="103663" y="2414701"/>
                  </a:lnTo>
                  <a:lnTo>
                    <a:pt x="6224270" y="2414701"/>
                  </a:lnTo>
                  <a:lnTo>
                    <a:pt x="6264460" y="2406502"/>
                  </a:lnTo>
                  <a:lnTo>
                    <a:pt x="6297431" y="2384199"/>
                  </a:lnTo>
                  <a:lnTo>
                    <a:pt x="6319739" y="2351233"/>
                  </a:lnTo>
                  <a:lnTo>
                    <a:pt x="6327940" y="2311044"/>
                  </a:lnTo>
                  <a:lnTo>
                    <a:pt x="6327940" y="103657"/>
                  </a:lnTo>
                  <a:lnTo>
                    <a:pt x="6319739" y="63474"/>
                  </a:lnTo>
                  <a:lnTo>
                    <a:pt x="6297431" y="30506"/>
                  </a:lnTo>
                  <a:lnTo>
                    <a:pt x="6264460" y="8200"/>
                  </a:lnTo>
                  <a:lnTo>
                    <a:pt x="6224270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63798" y="4870614"/>
              <a:ext cx="6328410" cy="2414905"/>
            </a:xfrm>
            <a:custGeom>
              <a:avLst/>
              <a:gdLst/>
              <a:ahLst/>
              <a:cxnLst/>
              <a:rect l="l" t="t" r="r" b="b"/>
              <a:pathLst>
                <a:path w="6328409" h="2414904">
                  <a:moveTo>
                    <a:pt x="0" y="103657"/>
                  </a:moveTo>
                  <a:lnTo>
                    <a:pt x="8200" y="63474"/>
                  </a:lnTo>
                  <a:lnTo>
                    <a:pt x="30506" y="30506"/>
                  </a:lnTo>
                  <a:lnTo>
                    <a:pt x="63474" y="8200"/>
                  </a:lnTo>
                  <a:lnTo>
                    <a:pt x="103663" y="0"/>
                  </a:lnTo>
                  <a:lnTo>
                    <a:pt x="6224270" y="0"/>
                  </a:lnTo>
                  <a:lnTo>
                    <a:pt x="6264460" y="8200"/>
                  </a:lnTo>
                  <a:lnTo>
                    <a:pt x="6297431" y="30506"/>
                  </a:lnTo>
                  <a:lnTo>
                    <a:pt x="6319739" y="63474"/>
                  </a:lnTo>
                  <a:lnTo>
                    <a:pt x="6327940" y="103657"/>
                  </a:lnTo>
                  <a:lnTo>
                    <a:pt x="6327940" y="2311044"/>
                  </a:lnTo>
                  <a:lnTo>
                    <a:pt x="6319739" y="2351233"/>
                  </a:lnTo>
                  <a:lnTo>
                    <a:pt x="6297431" y="2384199"/>
                  </a:lnTo>
                  <a:lnTo>
                    <a:pt x="6264460" y="2406502"/>
                  </a:lnTo>
                  <a:lnTo>
                    <a:pt x="6224270" y="2414701"/>
                  </a:lnTo>
                  <a:lnTo>
                    <a:pt x="103663" y="2414701"/>
                  </a:lnTo>
                  <a:lnTo>
                    <a:pt x="63474" y="2406502"/>
                  </a:lnTo>
                  <a:lnTo>
                    <a:pt x="30506" y="2384199"/>
                  </a:lnTo>
                  <a:lnTo>
                    <a:pt x="8200" y="2351233"/>
                  </a:lnTo>
                  <a:lnTo>
                    <a:pt x="0" y="2311044"/>
                  </a:lnTo>
                  <a:lnTo>
                    <a:pt x="0" y="103657"/>
                  </a:lnTo>
                  <a:close/>
                </a:path>
              </a:pathLst>
            </a:custGeom>
            <a:ln w="1523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113155" y="5117477"/>
            <a:ext cx="2165985" cy="173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620">
                <a:latin typeface="Segoe UI Symbol"/>
                <a:cs typeface="Segoe UI Symbol"/>
              </a:rPr>
              <a:t>👟</a:t>
            </a:r>
            <a:r>
              <a:rPr dirty="0" sz="2400" spc="5">
                <a:latin typeface="Segoe UI Symbol"/>
                <a:cs typeface="Segoe UI Symbol"/>
              </a:rPr>
              <a:t> </a:t>
            </a:r>
            <a:r>
              <a:rPr dirty="0" sz="2400" spc="-10">
                <a:solidFill>
                  <a:srgbClr val="E1E6E9"/>
                </a:solidFill>
                <a:latin typeface="Arial"/>
                <a:cs typeface="Arial"/>
              </a:rPr>
              <a:t>Footwear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120"/>
              </a:spcBef>
              <a:buAutoNum type="arabicPeriod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Sandals</a:t>
            </a:r>
            <a:r>
              <a:rPr dirty="0" sz="19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9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160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19"/>
              </a:spcBef>
              <a:buAutoNum type="arabicPeriod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Shoes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9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150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19"/>
              </a:spcBef>
              <a:buAutoNum type="arabicPeriod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Sneakers</a:t>
            </a:r>
            <a:r>
              <a:rPr dirty="0" sz="19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9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145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7430934" y="4862995"/>
            <a:ext cx="6343650" cy="2430145"/>
            <a:chOff x="7430934" y="4862995"/>
            <a:chExt cx="6343650" cy="2430145"/>
          </a:xfrm>
        </p:grpSpPr>
        <p:sp>
          <p:nvSpPr>
            <p:cNvPr id="16" name="object 16" descr=""/>
            <p:cNvSpPr/>
            <p:nvPr/>
          </p:nvSpPr>
          <p:spPr>
            <a:xfrm>
              <a:off x="7438554" y="4870614"/>
              <a:ext cx="6328410" cy="2414905"/>
            </a:xfrm>
            <a:custGeom>
              <a:avLst/>
              <a:gdLst/>
              <a:ahLst/>
              <a:cxnLst/>
              <a:rect l="l" t="t" r="r" b="b"/>
              <a:pathLst>
                <a:path w="6328409" h="2414904">
                  <a:moveTo>
                    <a:pt x="6224384" y="0"/>
                  </a:moveTo>
                  <a:lnTo>
                    <a:pt x="103663" y="0"/>
                  </a:lnTo>
                  <a:lnTo>
                    <a:pt x="63474" y="8200"/>
                  </a:lnTo>
                  <a:lnTo>
                    <a:pt x="30506" y="30506"/>
                  </a:lnTo>
                  <a:lnTo>
                    <a:pt x="8200" y="63474"/>
                  </a:lnTo>
                  <a:lnTo>
                    <a:pt x="0" y="103657"/>
                  </a:lnTo>
                  <a:lnTo>
                    <a:pt x="0" y="2311044"/>
                  </a:lnTo>
                  <a:lnTo>
                    <a:pt x="8200" y="2351233"/>
                  </a:lnTo>
                  <a:lnTo>
                    <a:pt x="30506" y="2384199"/>
                  </a:lnTo>
                  <a:lnTo>
                    <a:pt x="63474" y="2406502"/>
                  </a:lnTo>
                  <a:lnTo>
                    <a:pt x="103663" y="2414701"/>
                  </a:lnTo>
                  <a:lnTo>
                    <a:pt x="6224384" y="2414701"/>
                  </a:lnTo>
                  <a:lnTo>
                    <a:pt x="6264575" y="2406502"/>
                  </a:lnTo>
                  <a:lnTo>
                    <a:pt x="6297545" y="2384199"/>
                  </a:lnTo>
                  <a:lnTo>
                    <a:pt x="6319853" y="2351233"/>
                  </a:lnTo>
                  <a:lnTo>
                    <a:pt x="6328054" y="2311044"/>
                  </a:lnTo>
                  <a:lnTo>
                    <a:pt x="6328054" y="103657"/>
                  </a:lnTo>
                  <a:lnTo>
                    <a:pt x="6319853" y="63474"/>
                  </a:lnTo>
                  <a:lnTo>
                    <a:pt x="6297545" y="30506"/>
                  </a:lnTo>
                  <a:lnTo>
                    <a:pt x="6264575" y="8200"/>
                  </a:lnTo>
                  <a:lnTo>
                    <a:pt x="6224384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438554" y="4870614"/>
              <a:ext cx="6328410" cy="2414905"/>
            </a:xfrm>
            <a:custGeom>
              <a:avLst/>
              <a:gdLst/>
              <a:ahLst/>
              <a:cxnLst/>
              <a:rect l="l" t="t" r="r" b="b"/>
              <a:pathLst>
                <a:path w="6328409" h="2414904">
                  <a:moveTo>
                    <a:pt x="0" y="103657"/>
                  </a:moveTo>
                  <a:lnTo>
                    <a:pt x="8200" y="63474"/>
                  </a:lnTo>
                  <a:lnTo>
                    <a:pt x="30506" y="30506"/>
                  </a:lnTo>
                  <a:lnTo>
                    <a:pt x="63474" y="8200"/>
                  </a:lnTo>
                  <a:lnTo>
                    <a:pt x="103663" y="0"/>
                  </a:lnTo>
                  <a:lnTo>
                    <a:pt x="6224384" y="0"/>
                  </a:lnTo>
                  <a:lnTo>
                    <a:pt x="6264575" y="8200"/>
                  </a:lnTo>
                  <a:lnTo>
                    <a:pt x="6297545" y="30506"/>
                  </a:lnTo>
                  <a:lnTo>
                    <a:pt x="6319853" y="63474"/>
                  </a:lnTo>
                  <a:lnTo>
                    <a:pt x="6328054" y="103657"/>
                  </a:lnTo>
                  <a:lnTo>
                    <a:pt x="6328054" y="2311044"/>
                  </a:lnTo>
                  <a:lnTo>
                    <a:pt x="6319853" y="2351233"/>
                  </a:lnTo>
                  <a:lnTo>
                    <a:pt x="6297545" y="2384199"/>
                  </a:lnTo>
                  <a:lnTo>
                    <a:pt x="6264575" y="2406502"/>
                  </a:lnTo>
                  <a:lnTo>
                    <a:pt x="6224384" y="2414701"/>
                  </a:lnTo>
                  <a:lnTo>
                    <a:pt x="103663" y="2414701"/>
                  </a:lnTo>
                  <a:lnTo>
                    <a:pt x="63474" y="2406502"/>
                  </a:lnTo>
                  <a:lnTo>
                    <a:pt x="30506" y="2384199"/>
                  </a:lnTo>
                  <a:lnTo>
                    <a:pt x="8200" y="2351233"/>
                  </a:lnTo>
                  <a:lnTo>
                    <a:pt x="0" y="2311044"/>
                  </a:lnTo>
                  <a:lnTo>
                    <a:pt x="0" y="103657"/>
                  </a:lnTo>
                  <a:close/>
                </a:path>
              </a:pathLst>
            </a:custGeom>
            <a:ln w="1523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7687906" y="5101513"/>
            <a:ext cx="1842770" cy="1360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295">
                <a:latin typeface="Segoe UI Symbol"/>
                <a:cs typeface="Segoe UI Symbol"/>
              </a:rPr>
              <a:t>🧥</a:t>
            </a:r>
            <a:r>
              <a:rPr dirty="0" sz="2400" spc="5">
                <a:latin typeface="Segoe UI Symbol"/>
                <a:cs typeface="Segoe UI Symbol"/>
              </a:rPr>
              <a:t> </a:t>
            </a:r>
            <a:r>
              <a:rPr dirty="0" sz="2400" spc="-145">
                <a:solidFill>
                  <a:srgbClr val="E1E6E9"/>
                </a:solidFill>
                <a:latin typeface="Arial"/>
                <a:cs typeface="Arial"/>
              </a:rPr>
              <a:t>Outerwear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245"/>
              </a:spcBef>
              <a:buAutoNum type="arabicPeriod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Jacket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163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19"/>
              </a:spcBef>
              <a:buAutoNum type="arabicPeriod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Coat</a:t>
            </a:r>
            <a:r>
              <a:rPr dirty="0" sz="19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9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161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82875" algn="l"/>
              </a:tabLst>
            </a:pPr>
            <a:r>
              <a:rPr dirty="0" spc="-10"/>
              <a:t>Business</a:t>
            </a:r>
            <a:r>
              <a:rPr dirty="0"/>
              <a:t>	</a:t>
            </a:r>
            <a:r>
              <a:rPr dirty="0" spc="-10"/>
              <a:t>Recommendations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798" y="2110143"/>
            <a:ext cx="493632" cy="49363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653222" y="2191003"/>
            <a:ext cx="3175635" cy="17265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1E6E9"/>
                </a:solidFill>
                <a:latin typeface="Arial"/>
                <a:cs typeface="Arial"/>
              </a:rPr>
              <a:t>Boost</a:t>
            </a:r>
            <a:r>
              <a:rPr dirty="0" sz="24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E1E6E9"/>
                </a:solidFill>
                <a:latin typeface="Arial"/>
                <a:cs typeface="Arial"/>
              </a:rPr>
              <a:t>Subscriptions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36000"/>
              </a:lnSpc>
              <a:spcBef>
                <a:spcPts val="1210"/>
              </a:spcBef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Promote</a:t>
            </a:r>
            <a:r>
              <a:rPr dirty="0" sz="1900" spc="-9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exclusive</a:t>
            </a:r>
            <a:r>
              <a:rPr dirty="0" sz="1900" spc="-9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benefits</a:t>
            </a:r>
            <a:r>
              <a:rPr dirty="0" sz="1900" spc="-9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to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convert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the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73%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E1E6E9"/>
                </a:solidFill>
                <a:latin typeface="Arial"/>
                <a:cs typeface="Arial"/>
              </a:rPr>
              <a:t>non-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subscriber</a:t>
            </a:r>
            <a:r>
              <a:rPr dirty="0" sz="1900" spc="-9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base.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67566" y="2110143"/>
            <a:ext cx="493632" cy="493636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6056985" y="2191003"/>
            <a:ext cx="3187700" cy="17265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1E6E9"/>
                </a:solidFill>
                <a:latin typeface="Arial"/>
                <a:cs typeface="Arial"/>
              </a:rPr>
              <a:t>Loyalty</a:t>
            </a:r>
            <a:r>
              <a:rPr dirty="0" sz="2400" spc="-9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E1E6E9"/>
                </a:solidFill>
                <a:latin typeface="Arial"/>
                <a:cs typeface="Arial"/>
              </a:rPr>
              <a:t>Programs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36000"/>
              </a:lnSpc>
              <a:spcBef>
                <a:spcPts val="1210"/>
              </a:spcBef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Reward</a:t>
            </a:r>
            <a:r>
              <a:rPr dirty="0" sz="1900" spc="-8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repeat</a:t>
            </a:r>
            <a:r>
              <a:rPr dirty="0" sz="1900" spc="-7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buyers</a:t>
            </a:r>
            <a:r>
              <a:rPr dirty="0" sz="1900" spc="-7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to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accelerate</a:t>
            </a:r>
            <a:r>
              <a:rPr dirty="0" sz="1900" spc="-10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movement</a:t>
            </a:r>
            <a:r>
              <a:rPr dirty="0" sz="1900" spc="-10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into</a:t>
            </a:r>
            <a:r>
              <a:rPr dirty="0" sz="1900" spc="-9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the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Loyal</a:t>
            </a:r>
            <a:r>
              <a:rPr dirty="0" sz="1900" spc="-7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segment.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71329" y="2110143"/>
            <a:ext cx="493632" cy="49363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0460749" y="2191003"/>
            <a:ext cx="31915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1E6E9"/>
                </a:solidFill>
                <a:latin typeface="Arial"/>
                <a:cs typeface="Arial"/>
              </a:rPr>
              <a:t>Review</a:t>
            </a:r>
            <a:r>
              <a:rPr dirty="0" sz="2400" spc="-1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E1E6E9"/>
                </a:solidFill>
                <a:latin typeface="Arial"/>
                <a:cs typeface="Arial"/>
              </a:rPr>
              <a:t>Discount</a:t>
            </a:r>
            <a:r>
              <a:rPr dirty="0" sz="2400" spc="-114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E1E6E9"/>
                </a:solidFill>
                <a:latin typeface="Arial"/>
                <a:cs typeface="Arial"/>
              </a:rPr>
              <a:t>Policy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460749" y="3096158"/>
            <a:ext cx="3081020" cy="1206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Balance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sales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boosts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E1E6E9"/>
                </a:solidFill>
                <a:latin typeface="Arial"/>
                <a:cs typeface="Arial"/>
              </a:rPr>
              <a:t>with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margin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control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especially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for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Hat,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Sneakers,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E1E6E9"/>
                </a:solidFill>
                <a:latin typeface="Arial"/>
                <a:cs typeface="Arial"/>
              </a:rPr>
              <a:t>Coat.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3798" y="5186845"/>
            <a:ext cx="493632" cy="49363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653222" y="5267693"/>
            <a:ext cx="3133725" cy="17265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1E6E9"/>
                </a:solidFill>
                <a:latin typeface="Arial"/>
                <a:cs typeface="Arial"/>
              </a:rPr>
              <a:t>Targeted</a:t>
            </a:r>
            <a:r>
              <a:rPr dirty="0" sz="2400" spc="-1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E1E6E9"/>
                </a:solidFill>
                <a:latin typeface="Arial"/>
                <a:cs typeface="Arial"/>
              </a:rPr>
              <a:t>Marketing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36000"/>
              </a:lnSpc>
              <a:spcBef>
                <a:spcPts val="1210"/>
              </a:spcBef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Focus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on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Young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Adults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and </a:t>
            </a:r>
            <a:r>
              <a:rPr dirty="0" sz="1900" spc="-20">
                <a:solidFill>
                  <a:srgbClr val="E1E6E9"/>
                </a:solidFill>
                <a:latin typeface="Arial"/>
                <a:cs typeface="Arial"/>
              </a:rPr>
              <a:t>express-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shipping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users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—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highest</a:t>
            </a:r>
            <a:r>
              <a:rPr dirty="0" sz="1900" spc="-10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revenue</a:t>
            </a:r>
            <a:r>
              <a:rPr dirty="0" sz="1900" spc="-9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contributors.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67566" y="5186845"/>
            <a:ext cx="493632" cy="493636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6056985" y="5267693"/>
            <a:ext cx="2959100" cy="17265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1E6E9"/>
                </a:solidFill>
                <a:latin typeface="Arial"/>
                <a:cs typeface="Arial"/>
              </a:rPr>
              <a:t>Product</a:t>
            </a:r>
            <a:r>
              <a:rPr dirty="0" sz="2400" spc="-9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E1E6E9"/>
                </a:solidFill>
                <a:latin typeface="Arial"/>
                <a:cs typeface="Arial"/>
              </a:rPr>
              <a:t>Positioning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36000"/>
              </a:lnSpc>
              <a:spcBef>
                <a:spcPts val="1210"/>
              </a:spcBef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Highlight</a:t>
            </a:r>
            <a:r>
              <a:rPr dirty="0" sz="1900" spc="-7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E1E6E9"/>
                </a:solidFill>
                <a:latin typeface="Arial"/>
                <a:cs typeface="Arial"/>
              </a:rPr>
              <a:t>top-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rated</a:t>
            </a:r>
            <a:r>
              <a:rPr dirty="0" sz="1900" spc="-7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(Gloves,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Sandals)</a:t>
            </a:r>
            <a:r>
              <a:rPr dirty="0" sz="19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dirty="0" sz="19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E1E6E9"/>
                </a:solidFill>
                <a:latin typeface="Arial"/>
                <a:cs typeface="Arial"/>
              </a:rPr>
              <a:t>best-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selling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products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in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campaigns.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2026-04-28T07:26:00Z</dcterms:created>
  <dcterms:modified xsi:type="dcterms:W3CDTF">2026-04-28T07:26:00Z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2026-04-28T00:00:00Z</vt:filetime>
  </property>
  <property fmtid="{D5CDD505-2E9C-101B-9397-08002B2CF9AE}" pid="3" name="LastSaved">
    <vt:filetime>2026-04-28T00:00:00Z</vt:filetime>
  </property>
  <property fmtid="{D5CDD505-2E9C-101B-9397-08002B2CF9AE}" pid="4" name="Producer">
    <vt:lpwstr>3-Heights(TM) PDF Security Shell 4.8.25.2 (http://www.pdf-tools.com)</vt:lpwstr>
  </property>
</Properties>
</file>